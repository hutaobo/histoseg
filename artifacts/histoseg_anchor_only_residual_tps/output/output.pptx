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f0f9e033f24641" /><Relationship Type="http://schemas.openxmlformats.org/officeDocument/2006/relationships/extended-properties" Target="/docProps/app.xml" Id="R21b3d53421844b9d" /><Relationship Type="http://schemas.openxmlformats.org/officeDocument/2006/relationships/officeDocument" Target="/ppt/presentation.xml" Id="R7cd92c1c93e64e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efc98c772440e2"/>
  </p:sldMasterIdLst>
  <p:notesMasterIdLst>
    <p:notesMasterId xmlns:r="http://schemas.openxmlformats.org/officeDocument/2006/relationships" r:id="Rb3a19c66147c4946"/>
  </p:notesMasterIdLst>
  <p:sldIdLst>
    <p:sldId xmlns:r="http://schemas.openxmlformats.org/officeDocument/2006/relationships" id="256" r:id="R8b2f5c3f9c564aee"/>
    <p:sldId xmlns:r="http://schemas.openxmlformats.org/officeDocument/2006/relationships" id="257" r:id="Rec02dbcada7948c9"/>
    <p:sldId xmlns:r="http://schemas.openxmlformats.org/officeDocument/2006/relationships" id="258" r:id="R63080cf528164d2d"/>
    <p:sldId xmlns:r="http://schemas.openxmlformats.org/officeDocument/2006/relationships" id="259" r:id="Rde50c8d40db04e76"/>
    <p:sldId xmlns:r="http://schemas.openxmlformats.org/officeDocument/2006/relationships" id="260" r:id="Rcf5c6fb002b4497f"/>
    <p:sldId xmlns:r="http://schemas.openxmlformats.org/officeDocument/2006/relationships" id="261" r:id="R4120114c998d4519"/>
    <p:sldId xmlns:r="http://schemas.openxmlformats.org/officeDocument/2006/relationships" id="262" r:id="R218a92cf88c242a6"/>
    <p:sldId xmlns:r="http://schemas.openxmlformats.org/officeDocument/2006/relationships" id="263" r:id="Rf1770fa7e99d45f4"/>
    <p:sldId xmlns:r="http://schemas.openxmlformats.org/officeDocument/2006/relationships" id="264" r:id="R2fe0638fefe24a1f"/>
    <p:sldId xmlns:r="http://schemas.openxmlformats.org/officeDocument/2006/relationships" id="265" r:id="R40db01a6b9264b92"/>
    <p:sldId xmlns:r="http://schemas.openxmlformats.org/officeDocument/2006/relationships" id="266" r:id="Rfda0ae20cf4b4170"/>
    <p:sldId xmlns:r="http://schemas.openxmlformats.org/officeDocument/2006/relationships" id="267" r:id="Ra53d32d872714701"/>
    <p:sldId xmlns:r="http://schemas.openxmlformats.org/officeDocument/2006/relationships" id="268" r:id="Rd5e87ecac4694597"/>
    <p:sldId xmlns:r="http://schemas.openxmlformats.org/officeDocument/2006/relationships" id="269" r:id="R69188c63f0b746bd"/>
    <p:sldId xmlns:r="http://schemas.openxmlformats.org/officeDocument/2006/relationships" id="270" r:id="R888f41c3a2ac4d8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efc98c772440e2" /><Relationship Type="http://schemas.openxmlformats.org/officeDocument/2006/relationships/theme" Target="/ppt/theme/theme1.xml" Id="Rf2625a2d998844e3" /><Relationship Type="http://schemas.openxmlformats.org/officeDocument/2006/relationships/notesMaster" Target="/ppt/notesMasters/notesMaster1.xml" Id="Rb3a19c66147c4946" /><Relationship Type="http://schemas.openxmlformats.org/officeDocument/2006/relationships/presProps" Target="/ppt/presProps.xml" Id="R1edb7740aa384e49" /><Relationship Type="http://schemas.openxmlformats.org/officeDocument/2006/relationships/viewProps" Target="/ppt/viewProps.xml" Id="R85626efee97b4a24" /><Relationship Type="http://schemas.openxmlformats.org/officeDocument/2006/relationships/tableStyles" Target="/ppt/tableStyles.xml" Id="Re846c20f49a243fe" /><Relationship Type="http://schemas.openxmlformats.org/officeDocument/2006/relationships/slide" Target="/ppt/slides/slide1.xml" Id="R8b2f5c3f9c564aee" /><Relationship Type="http://schemas.openxmlformats.org/officeDocument/2006/relationships/slide" Target="/ppt/slides/slide2.xml" Id="Rec02dbcada7948c9" /><Relationship Type="http://schemas.openxmlformats.org/officeDocument/2006/relationships/slide" Target="/ppt/slides/slide3.xml" Id="R63080cf528164d2d" /><Relationship Type="http://schemas.openxmlformats.org/officeDocument/2006/relationships/slide" Target="/ppt/slides/slide4.xml" Id="Rde50c8d40db04e76" /><Relationship Type="http://schemas.openxmlformats.org/officeDocument/2006/relationships/slide" Target="/ppt/slides/slide5.xml" Id="Rcf5c6fb002b4497f" /><Relationship Type="http://schemas.openxmlformats.org/officeDocument/2006/relationships/slide" Target="/ppt/slides/slide6.xml" Id="R4120114c998d4519" /><Relationship Type="http://schemas.openxmlformats.org/officeDocument/2006/relationships/slide" Target="/ppt/slides/slide7.xml" Id="R218a92cf88c242a6" /><Relationship Type="http://schemas.openxmlformats.org/officeDocument/2006/relationships/slide" Target="/ppt/slides/slide8.xml" Id="Rf1770fa7e99d45f4" /><Relationship Type="http://schemas.openxmlformats.org/officeDocument/2006/relationships/slide" Target="/ppt/slides/slide9.xml" Id="R2fe0638fefe24a1f" /><Relationship Type="http://schemas.openxmlformats.org/officeDocument/2006/relationships/slide" Target="/ppt/slides/slide10.xml" Id="R40db01a6b9264b92" /><Relationship Type="http://schemas.openxmlformats.org/officeDocument/2006/relationships/slide" Target="/ppt/slides/slide11.xml" Id="Rfda0ae20cf4b4170" /><Relationship Type="http://schemas.openxmlformats.org/officeDocument/2006/relationships/slide" Target="/ppt/slides/slide12.xml" Id="Ra53d32d872714701" /><Relationship Type="http://schemas.openxmlformats.org/officeDocument/2006/relationships/slide" Target="/ppt/slides/slide13.xml" Id="Rd5e87ecac4694597" /><Relationship Type="http://schemas.openxmlformats.org/officeDocument/2006/relationships/slide" Target="/ppt/slides/slide14.xml" Id="R69188c63f0b746bd" /><Relationship Type="http://schemas.openxmlformats.org/officeDocument/2006/relationships/slide" Target="/ppt/slides/slide15.xml" Id="R888f41c3a2ac4d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2248850aad04b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622e30f90c440f" /><Relationship Type="http://schemas.openxmlformats.org/officeDocument/2006/relationships/notesMaster" Target="/ppt/notesMasters/notesMaster1.xml" Id="Rc7b38fb8552e4f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a5d5bc819248c5" /><Relationship Type="http://schemas.openxmlformats.org/officeDocument/2006/relationships/notesMaster" Target="/ppt/notesMasters/notesMaster1.xml" Id="R48ddfb4dd4c64a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8f69ba89b14e15" /><Relationship Type="http://schemas.openxmlformats.org/officeDocument/2006/relationships/notesMaster" Target="/ppt/notesMasters/notesMaster1.xml" Id="R9b768d4da6564c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08f06ad3b6417b" /><Relationship Type="http://schemas.openxmlformats.org/officeDocument/2006/relationships/notesMaster" Target="/ppt/notesMasters/notesMaster1.xml" Id="R7b9c9c6cd50149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17346816804156" /><Relationship Type="http://schemas.openxmlformats.org/officeDocument/2006/relationships/notesMaster" Target="/ppt/notesMasters/notesMaster1.xml" Id="Rd7da7b0ab34042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37a04853ee4ca5" /><Relationship Type="http://schemas.openxmlformats.org/officeDocument/2006/relationships/notesMaster" Target="/ppt/notesMasters/notesMaster1.xml" Id="R097bc2367f1946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0fa825fdb14cc4" /><Relationship Type="http://schemas.openxmlformats.org/officeDocument/2006/relationships/notesMaster" Target="/ppt/notesMasters/notesMaster1.xml" Id="R765d65289e6d4c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785db8e6ae4633" /><Relationship Type="http://schemas.openxmlformats.org/officeDocument/2006/relationships/notesMaster" Target="/ppt/notesMasters/notesMaster1.xml" Id="R749ffcb182e34f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3cba420c2f45bf" /><Relationship Type="http://schemas.openxmlformats.org/officeDocument/2006/relationships/notesMaster" Target="/ppt/notesMasters/notesMaster1.xml" Id="Rb857d7d80ec642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739a3f61834a8f" /><Relationship Type="http://schemas.openxmlformats.org/officeDocument/2006/relationships/notesMaster" Target="/ppt/notesMasters/notesMaster1.xml" Id="Racf511112f794b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b423f99aa442f0" /><Relationship Type="http://schemas.openxmlformats.org/officeDocument/2006/relationships/notesMaster" Target="/ppt/notesMasters/notesMaster1.xml" Id="Rad52b18da12a4e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90130df5134786" /><Relationship Type="http://schemas.openxmlformats.org/officeDocument/2006/relationships/notesMaster" Target="/ppt/notesMasters/notesMaster1.xml" Id="R27211f57d90741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598fc598b243a1" /><Relationship Type="http://schemas.openxmlformats.org/officeDocument/2006/relationships/notesMaster" Target="/ppt/notesMasters/notesMaster1.xml" Id="Rc834000fc3ef49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fdab844cbb4c7e" /><Relationship Type="http://schemas.openxmlformats.org/officeDocument/2006/relationships/notesMaster" Target="/ppt/notesMasters/notesMaster1.xml" Id="R41408b8691a949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bd2daf24264707" /><Relationship Type="http://schemas.openxmlformats.org/officeDocument/2006/relationships/notesMaster" Target="/ppt/notesMasters/notesMaster1.xml" Id="R0978cca88ad046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b39e85a97f4c0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471c860298142b4" /><Relationship Type="http://schemas.openxmlformats.org/officeDocument/2006/relationships/slideLayout" Target="/ppt/slideLayouts/slideLayout2.xml" Id="R010d5f04c33447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0d5f04c33447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4f19f148434e02" /><Relationship Type="http://schemas.openxmlformats.org/officeDocument/2006/relationships/notesSlide" Target="/ppt/notesSlides/notesSlide1.xml" Id="R78dee2f10b2c4e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8eae96c1214795" /><Relationship Type="http://schemas.openxmlformats.org/officeDocument/2006/relationships/notesSlide" Target="/ppt/notesSlides/notesSlide2.xml" Id="R19e85735f50e47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f212c8f11644e5" /><Relationship Type="http://schemas.openxmlformats.org/officeDocument/2006/relationships/notesSlide" Target="/ppt/notesSlides/notesSlide3.xml" Id="R42fa8fa0cd5f41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6716c9b787408d" /><Relationship Type="http://schemas.openxmlformats.org/officeDocument/2006/relationships/notesSlide" Target="/ppt/notesSlides/notesSlide4.xml" Id="R858d053e6ca942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09625893104db1" /><Relationship Type="http://schemas.openxmlformats.org/officeDocument/2006/relationships/notesSlide" Target="/ppt/notesSlides/notesSlide5.xml" Id="R4a49997ee53e4d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afbf0521844d7c" /><Relationship Type="http://schemas.openxmlformats.org/officeDocument/2006/relationships/notesSlide" Target="/ppt/notesSlides/notesSlide6.xml" Id="Ra3fd513d0fe24e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173e19cc714854" /><Relationship Type="http://schemas.openxmlformats.org/officeDocument/2006/relationships/notesSlide" Target="/ppt/notesSlides/notesSlide7.xml" Id="R30f3433de77646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fabcfa8d5c4201" /><Relationship Type="http://schemas.openxmlformats.org/officeDocument/2006/relationships/notesSlide" Target="/ppt/notesSlides/notesSlide8.xml" Id="Rb2c0e706c9f544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540b67925c46a9" /><Relationship Type="http://schemas.openxmlformats.org/officeDocument/2006/relationships/notesSlide" Target="/ppt/notesSlides/notesSlide9.xml" Id="R3ec596de644b45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16f3062f0f4079" /><Relationship Type="http://schemas.openxmlformats.org/officeDocument/2006/relationships/notesSlide" Target="/ppt/notesSlides/notesSlide10.xml" Id="Ra589c5e8af5045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898eb0ee324490" /><Relationship Type="http://schemas.openxmlformats.org/officeDocument/2006/relationships/notesSlide" Target="/ppt/notesSlides/notesSlide11.xml" Id="R4c313dd91c3541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3a6b440da9466e" /><Relationship Type="http://schemas.openxmlformats.org/officeDocument/2006/relationships/notesSlide" Target="/ppt/notesSlides/notesSlide12.xml" Id="R744b91b4fe824e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d066f402d945cd" /><Relationship Type="http://schemas.openxmlformats.org/officeDocument/2006/relationships/notesSlide" Target="/ppt/notesSlides/notesSlide13.xml" Id="Rc3b356cfd9fd4c4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e39e40a4764b8d" /><Relationship Type="http://schemas.openxmlformats.org/officeDocument/2006/relationships/notesSlide" Target="/ppt/notesSlides/notesSlide14.xml" Id="R17dd83f7795249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c1eb257da34a47" /><Relationship Type="http://schemas.openxmlformats.org/officeDocument/2006/relationships/notesSlide" Target="/ppt/notesSlides/notesSlide15.xml" Id="R740882c9016948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889921-43EC-4F9A-97F9-6E142D62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tag-major upgrade">
            <a:extLst xmlns:a="http://schemas.openxmlformats.org/drawingml/2006/main">
              <a:ext uri="{FF2B5EF4-FFF2-40B4-BE49-F238E27FC236}">
                <a16:creationId xmlns:a16="http://schemas.microsoft.com/office/drawing/2014/main" id="{5FAE0077-0CDF-4F80-9686-5B4087F4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2285"/>
            <a:ext cx="1195483" cy="316230"/>
          </a:xfrm>
          <a:prstGeom xmlns:a="http://schemas.openxmlformats.org/drawingml/2006/main" prst="roundRect">
            <a:avLst>
              <a:gd name="adj" fmla="val 42169"/>
            </a:avLst>
          </a:prstGeom>
          <a:solidFill xmlns:a="http://schemas.openxmlformats.org/drawingml/2006/main">
            <a:srgbClr val="EEE8FF"/>
          </a:solidFill>
          <a:ln xmlns:a="http://schemas.openxmlformats.org/drawingml/2006/main" w="9525">
            <a:solidFill>
              <a:srgbClr val="6E4BB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E076E-D712-484A-A3EC-499CD274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933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E4BB5"/>
                </a:solidFill>
              </a:defRPr>
            </a:pPr>
            <a:r>
              <a:rPr sz="1200" b="1">
                <a:solidFill>
                  <a:srgbClr val="6E4BB5"/>
                </a:solidFill>
              </a:rPr>
              <a:t>major upgrade</a:t>
            </a:r>
          </a:p>
        </p:txBody>
      </p:sp>
      <p:sp>
        <p:nvSpPr>
          <p:cNvPr id="4" name="tag-partial-anchor">
            <a:extLst xmlns:a="http://schemas.openxmlformats.org/drawingml/2006/main">
              <a:ext uri="{FF2B5EF4-FFF2-40B4-BE49-F238E27FC236}">
                <a16:creationId xmlns:a16="http://schemas.microsoft.com/office/drawing/2014/main" id="{905B2DB7-CB1F-4C27-8D39-7D224A04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733" y="3042285"/>
            <a:ext cx="1164907" cy="499110"/>
          </a:xfrm>
          <a:prstGeom xmlns:a="http://schemas.openxmlformats.org/drawingml/2006/main" prst="roundRect">
            <a:avLst>
              <a:gd name="adj" fmla="val 26718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9525">
            <a:solidFill>
              <a:srgbClr val="0F8C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D359A-2B0F-42D3-AB48-FEEF9BF2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05150"/>
            <a:ext cx="895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8C79"/>
                </a:solidFill>
              </a:defRPr>
            </a:pPr>
            <a:r>
              <a:rPr sz="1200" b="1">
                <a:solidFill>
                  <a:srgbClr val="0F8C79"/>
                </a:solidFill>
              </a:rPr>
              <a:t>partial-anchor</a:t>
            </a:r>
          </a:p>
        </p:txBody>
      </p:sp>
      <p:sp>
        <p:nvSpPr>
          <p:cNvPr id="6" name="tag-A100 validated">
            <a:extLst xmlns:a="http://schemas.openxmlformats.org/drawingml/2006/main">
              <a:ext uri="{FF2B5EF4-FFF2-40B4-BE49-F238E27FC236}">
                <a16:creationId xmlns:a16="http://schemas.microsoft.com/office/drawing/2014/main" id="{1F215F31-B497-4EE5-B8B9-77BE40A4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940" y="3042285"/>
            <a:ext cx="1210246" cy="499110"/>
          </a:xfrm>
          <a:prstGeom xmlns:a="http://schemas.openxmlformats.org/drawingml/2006/main" prst="roundRect">
            <a:avLst>
              <a:gd name="adj" fmla="val 26718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1E63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CF6CA-2DA8-4D1F-A040-3D0D01BA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05150"/>
            <a:ext cx="95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E63B6"/>
                </a:solidFill>
              </a:defRPr>
            </a:pPr>
            <a:r>
              <a:rPr sz="1200" b="1">
                <a:solidFill>
                  <a:srgbClr val="1E63B6"/>
                </a:solidFill>
              </a:rPr>
              <a:t>A100 validated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DD2E1BA-3978-4073-A965-DA957CAE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457200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12212F"/>
                </a:solidFill>
              </a:defRPr>
            </a:pPr>
            <a:r>
              <a:rPr sz="6000" b="1">
                <a:solidFill>
                  <a:srgbClr val="12212F"/>
                </a:solidFill>
              </a:rPr>
              <a:t>HistoSeg 3D 对齐算法逻辑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AC9DD1E-9159-49B6-BC41-19DC8AF0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61912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36579"/>
                </a:solidFill>
              </a:defRPr>
            </a:pPr>
            <a:r>
              <a:rPr sz="2250">
                <a:solidFill>
                  <a:srgbClr val="536579"/>
                </a:solidFill>
              </a:rPr>
              <a:t>Anchor-only Residual TPS: 从“边界强制重合”转为“证据锚点驱动”的软配准。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CF1C1-6A14-48F0-9278-9CE2AD1A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418" y="590550"/>
            <a:ext cx="7727633" cy="8717280"/>
          </a:xfrm>
          <a:prstGeom xmlns:a="http://schemas.openxmlformats.org/drawingml/2006/main" prst="roundRect">
            <a:avLst>
              <a:gd name="adj" fmla="val 1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7CFFC-B921-48D1-B08F-A303177E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3505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3B6"/>
          </a:solidFill>
          <a:ln xmlns:a="http://schemas.openxmlformats.org/drawingml/2006/main" w="0">
            <a:solidFill>
              <a:srgbClr val="1E63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55B033-D66B-477D-8015-3D361086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505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BB5"/>
          </a:solidFill>
          <a:ln xmlns:a="http://schemas.openxmlformats.org/drawingml/2006/main" w="0">
            <a:solidFill>
              <a:srgbClr val="6E4B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1B633-BC4F-43A5-AAF0-367F3C47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505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C79"/>
          </a:solidFill>
          <a:ln xmlns:a="http://schemas.openxmlformats.org/drawingml/2006/main" w="0">
            <a:solidFill>
              <a:srgbClr val="0F8C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B8421-BA24-4F57-B91C-012E48FA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5568" y="4150995"/>
            <a:ext cx="6851333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E63B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B42126-3F1C-458A-B97F-F8190C8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381500"/>
            <a:ext cx="628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117"/>
                </a:solidFill>
              </a:defRPr>
            </a:pPr>
            <a:r>
              <a:rPr sz="1500">
                <a:solidFill>
                  <a:srgbClr val="0B1117"/>
                </a:solidFill>
              </a:rPr>
              <a:t>x_hard = H(x_raw)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43865-65C9-4B00-B717-3287287A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762500"/>
            <a:ext cx="628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117"/>
                </a:solidFill>
              </a:defRPr>
            </a:pPr>
            <a:r>
              <a:rPr sz="1500">
                <a:solidFill>
                  <a:srgbClr val="0B1117"/>
                </a:solidFill>
              </a:rPr>
              <a:t>r_i = fixed_i - hard_aligned_i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A6DD25-30DE-4BCC-9DDA-63B9DCB6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143500"/>
            <a:ext cx="628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117"/>
                </a:solidFill>
              </a:defRPr>
            </a:pPr>
            <a:r>
              <a:rPr sz="1500">
                <a:solidFill>
                  <a:srgbClr val="0B1117"/>
                </a:solidFill>
              </a:rPr>
              <a:t>x_soft = x_hard + R(x_hard)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02D0F7-CF9F-4CB9-92EA-3D59687C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867400"/>
            <a:ext cx="6076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只有 active anchors 产生拉力；passive/no-counterpart contours 只跟随变换。</a:t>
            </a:r>
          </a:p>
        </p:txBody>
      </p:sp>
      <p:sp>
        <p:nvSpPr>
          <p:cNvPr id="19" name="source-rail">
            <a:extLst xmlns:a="http://schemas.openxmlformats.org/drawingml/2006/main">
              <a:ext uri="{FF2B5EF4-FFF2-40B4-BE49-F238E27FC236}">
                <a16:creationId xmlns:a16="http://schemas.microsoft.com/office/drawing/2014/main" id="{3865A7B2-4A98-4F00-A3AB-AF3D638F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10700"/>
            <a:ext cx="523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Prepared from HistoSeg main branch, GitHub issue #9, and A100 validation logs.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0A9713-2B8E-4B40-9177-E53BB403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9315450"/>
            <a:ext cx="182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HistoSeg 3D alignment logic</a:t>
            </a:r>
          </a:p>
        </p:txBody>
      </p:sp>
    </p:spTree>
    <p:extLst>
      <p:ext uri="{BB962C8B-B14F-4D97-AF65-F5344CB8AC3E}">
        <p14:creationId xmlns:p14="http://schemas.microsoft.com/office/powerpoint/2010/main" val="13595541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1CA22859-C20B-49AC-AF42-42B45AA8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22C6AD-19A6-445F-95CE-F9E8F7F2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4457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212F"/>
                </a:solidFill>
              </a:defRPr>
            </a:pPr>
            <a:r>
              <a:rPr sz="3900" b="1">
                <a:solidFill>
                  <a:srgbClr val="12212F"/>
                </a:solidFill>
              </a:rPr>
              <a:t>为什么需要这次升级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FCD8016-6153-44E6-A919-469177B5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849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36579"/>
                </a:solidFill>
              </a:defRPr>
            </a:pPr>
            <a:r>
              <a:rPr sz="1875">
                <a:solidFill>
                  <a:srgbClr val="536579"/>
                </a:solidFill>
              </a:rPr>
              <a:t>旧系统已经能找到 partial-anchor，但 soft TPS 仍可能把物理缺失或撕裂强行缝合。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9C0A0-7624-449A-A933-5847A1A9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5230"/>
            <a:ext cx="8286750" cy="144018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BE5E5"/>
          </a:solidFill>
          <a:ln xmlns:a="http://schemas.openxmlformats.org/drawingml/2006/main" w="9525">
            <a:solidFill>
              <a:srgbClr val="B640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18AE2-D1EC-4763-922E-3354CC7F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4040"/>
                </a:solidFill>
              </a:defRPr>
            </a:pPr>
            <a:r>
              <a:rPr sz="2100" b="1">
                <a:solidFill>
                  <a:srgbClr val="B64040"/>
                </a:solidFill>
              </a:rPr>
              <a:t>旧 semantic soft TPS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CF219-E248-49D5-99D0-57582123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7753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假设同名结构应该整体重合，用边界到边界的最近点拟合 TPS。局部撕裂或缺失会变成“需要修正”的几何误差。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1116D-FA04-43DC-96BF-5653998B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45230"/>
            <a:ext cx="8286750" cy="144018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E4F5EA"/>
          </a:solidFill>
          <a:ln xmlns:a="http://schemas.openxmlformats.org/drawingml/2006/main" w="9525">
            <a:solidFill>
              <a:srgbClr val="1A7F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EAC3C-2FD5-4186-B5DF-F15705F7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814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A7F4B"/>
                </a:solidFill>
              </a:defRPr>
            </a:pPr>
            <a:r>
              <a:rPr sz="2100" b="1">
                <a:solidFill>
                  <a:srgbClr val="1A7F4B"/>
                </a:solidFill>
              </a:rPr>
              <a:t>新 anchor-only residual TPS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2431B-65F0-4EBD-87B9-935F5379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00550"/>
            <a:ext cx="7753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只信任 hard 阶段筛出的高置信度 anchor。没有点对点证据的 contour 保持 passive，不参与拉伸。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9A9D2-6B5D-432D-AF22-C84FF621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5231638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9525">
            <a:solidFill>
              <a:srgbClr val="0F8C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7BA25-7B76-415E-AF97-7139A73A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4781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8C79"/>
                </a:solidFill>
              </a:defRPr>
            </a:pPr>
            <a:r>
              <a:rPr sz="1875" b="1">
                <a:solidFill>
                  <a:srgbClr val="0F8C79"/>
                </a:solidFill>
              </a:rPr>
              <a:t>Label-free hard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9DBD2-181D-4E4D-805F-870917F8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76950"/>
            <a:ext cx="478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识别局部可匹配结构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D643D-2DE2-42DB-89E2-62C08EEE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62700"/>
            <a:ext cx="478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允许切片错位、缺失、撕裂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3B9B1-AB57-4E16-8CCF-AFECC774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53150"/>
            <a:ext cx="22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36579"/>
                </a:solidFill>
              </a:defRPr>
            </a:pPr>
            <a:r>
              <a:rPr sz="2250" b="1">
                <a:solidFill>
                  <a:srgbClr val="536579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F6F4A-DE4E-418A-B2B1-33DC476D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181" y="5505450"/>
            <a:ext cx="5231638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BE5E5"/>
          </a:solidFill>
          <a:ln xmlns:a="http://schemas.openxmlformats.org/drawingml/2006/main" w="9525">
            <a:solidFill>
              <a:srgbClr val="B640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1FB5A-8811-4DAE-A016-CCE9131C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95950"/>
            <a:ext cx="4781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64040"/>
                </a:solidFill>
              </a:defRPr>
            </a:pPr>
            <a:r>
              <a:rPr sz="1875" b="1">
                <a:solidFill>
                  <a:srgbClr val="B64040"/>
                </a:solidFill>
              </a:rPr>
              <a:t>旧 soft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EC88B-3E9C-4FFF-AF3A-FD15DDEA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076950"/>
            <a:ext cx="478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又尝试全局边界吸附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747B1C-933F-4682-BA91-8D143E81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362700"/>
            <a:ext cx="478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语义一致性压过物理容忍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6647DA-6EE1-4A5E-85C9-D19DE0DC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6153150"/>
            <a:ext cx="22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36579"/>
                </a:solidFill>
              </a:defRPr>
            </a:pPr>
            <a:r>
              <a:rPr sz="2250" b="1">
                <a:solidFill>
                  <a:srgbClr val="536579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B7D86-0F5E-4EA5-B6C6-8092207E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2462" y="5505450"/>
            <a:ext cx="5231638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4F5EA"/>
          </a:solidFill>
          <a:ln xmlns:a="http://schemas.openxmlformats.org/drawingml/2006/main" w="9525">
            <a:solidFill>
              <a:srgbClr val="1A7F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51B774-B912-46F6-8E70-6423E4F4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5695950"/>
            <a:ext cx="4781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A7F4B"/>
                </a:solidFill>
              </a:defRPr>
            </a:pPr>
            <a:r>
              <a:rPr sz="1875" b="1">
                <a:solidFill>
                  <a:srgbClr val="1A7F4B"/>
                </a:solidFill>
              </a:rPr>
              <a:t>升级目标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4AE632-7F89-498F-A06E-99448157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6076950"/>
            <a:ext cx="478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软变形只来自证据锚点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69BA52-1C47-444A-9E4E-1DD06E1A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6362700"/>
            <a:ext cx="478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无证据区域不产生拉力</a:t>
            </a:r>
          </a:p>
        </p:txBody>
      </p:sp>
      <p:sp>
        <p:nvSpPr>
          <p:cNvPr id="24" name="source-rail">
            <a:extLst xmlns:a="http://schemas.openxmlformats.org/drawingml/2006/main">
              <a:ext uri="{FF2B5EF4-FFF2-40B4-BE49-F238E27FC236}">
                <a16:creationId xmlns:a16="http://schemas.microsoft.com/office/drawing/2014/main" id="{534DDF02-6205-4974-A1D7-C78C61BC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46785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Local repo state and A100 validation logs, 2026-05-08.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47D25A-3D6E-44B0-8E11-91A71D41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372600"/>
            <a:ext cx="182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HistoSeg 3D alignment logic</a:t>
            </a:r>
          </a:p>
        </p:txBody>
      </p:sp>
    </p:spTree>
    <p:extLst>
      <p:ext uri="{BB962C8B-B14F-4D97-AF65-F5344CB8AC3E}">
        <p14:creationId xmlns:p14="http://schemas.microsoft.com/office/powerpoint/2010/main" val="11456807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2CE4D487-6027-4304-83D6-2D678BDB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60BBEF-6BA2-48FE-9FE4-EC76EFBC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4457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212F"/>
                </a:solidFill>
              </a:defRPr>
            </a:pPr>
            <a:r>
              <a:rPr sz="3900" b="1">
                <a:solidFill>
                  <a:srgbClr val="12212F"/>
                </a:solidFill>
              </a:rPr>
              <a:t>升级后的核心不变量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3C22CB6-9A5B-4005-98B0-3CAC46A6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12877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36579"/>
                </a:solidFill>
              </a:defRPr>
            </a:pPr>
            <a:r>
              <a:rPr sz="1875">
                <a:solidFill>
                  <a:srgbClr val="536579"/>
                </a:solidFill>
              </a:rPr>
              <a:t>HistoSeg 3D stack 的对齐目标从“最大化轮廓重合”改为“最大化有证据区域的残差一致性，同时保留无证据区域的物理状态”。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B4ED5-4229-4830-8D24-60FC0C63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24225"/>
            <a:ext cx="7809071" cy="1363980"/>
          </a:xfrm>
          <a:prstGeom xmlns:a="http://schemas.openxmlformats.org/drawingml/2006/main" prst="roundRect">
            <a:avLst>
              <a:gd name="adj" fmla="val 8380"/>
            </a:avLst>
          </a:prstGeom>
          <a:solidFill xmlns:a="http://schemas.openxmlformats.org/drawingml/2006/main">
            <a:srgbClr val="EEE8FF"/>
          </a:solidFill>
          <a:ln xmlns:a="http://schemas.openxmlformats.org/drawingml/2006/main" w="9525">
            <a:solidFill>
              <a:srgbClr val="6E4B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86235-4C7C-49D5-AC28-8B973956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39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E4BB5"/>
                </a:solidFill>
              </a:defRPr>
            </a:pPr>
            <a:r>
              <a:rPr sz="1275" b="1">
                <a:solidFill>
                  <a:srgbClr val="6E4BB5"/>
                </a:solidFill>
              </a:rPr>
              <a:t>判断对象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39C38-70F6-4EF2-82A8-958B8A0B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71900"/>
            <a:ext cx="739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12F"/>
                </a:solidFill>
              </a:defRPr>
            </a:pPr>
            <a:r>
              <a:rPr sz="3150" b="1">
                <a:solidFill>
                  <a:srgbClr val="12212F"/>
                </a:solidFill>
              </a:rPr>
              <a:t>anchor pairs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1D3BD-1024-43AF-A6FD-CBB49A59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739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不是整张切片，也不是所有同名 contour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10875-5C21-420E-BA5D-E14FCC14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7755"/>
            <a:ext cx="7809071" cy="1363980"/>
          </a:xfrm>
          <a:prstGeom xmlns:a="http://schemas.openxmlformats.org/drawingml/2006/main" prst="roundRect">
            <a:avLst>
              <a:gd name="adj" fmla="val 8380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9525">
            <a:solidFill>
              <a:srgbClr val="0F8C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6F2B2-708C-45A4-A01A-2A648DB9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739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8C79"/>
                </a:solidFill>
              </a:defRPr>
            </a:pPr>
            <a:r>
              <a:rPr sz="1275" b="1">
                <a:solidFill>
                  <a:srgbClr val="0F8C79"/>
                </a:solidFill>
              </a:rPr>
              <a:t>通过标准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62453-8D5E-461F-A4DA-D3B2597A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739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12F"/>
                </a:solidFill>
              </a:defRPr>
            </a:pPr>
            <a:r>
              <a:rPr sz="3150" b="1">
                <a:solidFill>
                  <a:srgbClr val="12212F"/>
                </a:solidFill>
              </a:rPr>
              <a:t>residual + topology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072EB-48F9-4E98-80E3-66A57B6D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05500"/>
            <a:ext cx="739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median/p90 residual、invalid geometry、negative Jacobian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544E54-3094-430D-AFB6-D3315BA6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1285"/>
            <a:ext cx="7809071" cy="1363980"/>
          </a:xfrm>
          <a:prstGeom xmlns:a="http://schemas.openxmlformats.org/drawingml/2006/main" prst="roundRect">
            <a:avLst>
              <a:gd name="adj" fmla="val 8380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B46A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A6EC4-3AF1-4B10-A2C6-4EA93719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648450"/>
            <a:ext cx="739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6A00"/>
                </a:solidFill>
              </a:defRPr>
            </a:pPr>
            <a:r>
              <a:rPr sz="1275" b="1">
                <a:solidFill>
                  <a:srgbClr val="B46A00"/>
                </a:solidFill>
              </a:rPr>
              <a:t>IoU 的地位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736DD-9FB1-41E3-8ED3-BB158E15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915150"/>
            <a:ext cx="739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12F"/>
                </a:solidFill>
              </a:defRPr>
            </a:pPr>
            <a:r>
              <a:rPr sz="3150" b="1">
                <a:solidFill>
                  <a:srgbClr val="12212F"/>
                </a:solidFill>
              </a:rPr>
              <a:t>context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10BA7-3FD2-4177-94F0-73860449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67600"/>
            <a:ext cx="739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anchor-only 模式不再用全局 IoU gain 一票否决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422F0-C781-4F19-97B1-7BECBBE9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021" y="2061210"/>
            <a:ext cx="8631079" cy="7037070"/>
          </a:xfrm>
          <a:prstGeom xmlns:a="http://schemas.openxmlformats.org/drawingml/2006/main" prst="roundRect">
            <a:avLst>
              <a:gd name="adj" fmla="val 16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427E5A-2436-4AF6-82BC-091ED78D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33900"/>
            <a:ext cx="7829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212F"/>
                </a:solidFill>
              </a:defRPr>
            </a:pPr>
            <a:r>
              <a:rPr sz="2325" b="1">
                <a:solidFill>
                  <a:srgbClr val="12212F"/>
                </a:solidFill>
              </a:rPr>
              <a:t>这解决了原来的矛盾：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B28268-46A2-430E-B6A8-66813214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05400"/>
            <a:ext cx="7829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1. Hard alignment 认为只应使用可信局部锚点。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85A381-451C-419C-A307-166F0F8D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581650"/>
            <a:ext cx="7829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2. 旧 semantic TPS 又默认同名结构应该整体贴合。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0E5C4-3804-485A-8E93-CBF0FFCC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076950"/>
            <a:ext cx="7829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3. 现在 auto 模式会让 label-free-group 直接进入 anchor-only soft，不再回到 semantic TPS。</a:t>
            </a:r>
          </a:p>
        </p:txBody>
      </p:sp>
      <p:sp>
        <p:nvSpPr>
          <p:cNvPr id="21" name="source-rail">
            <a:extLst xmlns:a="http://schemas.openxmlformats.org/drawingml/2006/main">
              <a:ext uri="{FF2B5EF4-FFF2-40B4-BE49-F238E27FC236}">
                <a16:creationId xmlns:a16="http://schemas.microsoft.com/office/drawing/2014/main" id="{2ABBBD21-A172-41FE-B2E7-176C6D1A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46785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Local repo state and A100 validation logs, 2026-05-08.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63A38C-E36B-443C-8202-D3E0ADC0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372600"/>
            <a:ext cx="182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HistoSeg 3D alignment logic</a:t>
            </a:r>
          </a:p>
        </p:txBody>
      </p:sp>
    </p:spTree>
    <p:extLst>
      <p:ext uri="{BB962C8B-B14F-4D97-AF65-F5344CB8AC3E}">
        <p14:creationId xmlns:p14="http://schemas.microsoft.com/office/powerpoint/2010/main" val="4318072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F54EBA2C-7107-4E0E-A4C0-B92A15E6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896B69-BD47-4362-8E34-7E194BB6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7696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212F"/>
                </a:solidFill>
              </a:defRPr>
            </a:pPr>
            <a:r>
              <a:rPr sz="3900" b="1">
                <a:solidFill>
                  <a:srgbClr val="12212F"/>
                </a:solidFill>
              </a:rPr>
              <a:t>控制流：soft_alignment_mode=auto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5229891-522C-48EC-BB2C-BC1FB341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621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36579"/>
                </a:solidFill>
              </a:defRPr>
            </a:pPr>
            <a:r>
              <a:rPr sz="1875">
                <a:solidFill>
                  <a:srgbClr val="536579"/>
                </a:solidFill>
              </a:rPr>
              <a:t>策略显式化后，hard 阶段的胜出方法决定 soft 阶段的语义。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7CF4C-6E33-4B14-9886-3030E4D8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5231638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1E63B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A9CFF-1C76-4A54-A830-C0267EFD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4781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63B6"/>
                </a:solidFill>
              </a:defRPr>
            </a:pPr>
            <a:r>
              <a:rPr sz="1875" b="1">
                <a:solidFill>
                  <a:srgbClr val="1E63B6"/>
                </a:solidFill>
              </a:rPr>
              <a:t>pairwise hard winner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DB746-37C2-452D-B12E-77BAC185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478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label-free-group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7E0BB-E678-4E6A-9274-FBA0C816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478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contour-tps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9A4A3-6653-4CE0-A1ED-7AC560A5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478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coda-image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509C1-1AA1-4DC0-9677-5BAAC5B8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33850"/>
            <a:ext cx="22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36579"/>
                </a:solidFill>
              </a:defRPr>
            </a:pPr>
            <a:r>
              <a:rPr sz="2250" b="1">
                <a:solidFill>
                  <a:srgbClr val="536579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27B02-D8A6-4660-B25A-A37A34F9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181" y="3505200"/>
            <a:ext cx="5231638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E8FF"/>
          </a:solidFill>
          <a:ln xmlns:a="http://schemas.openxmlformats.org/drawingml/2006/main" w="9525">
            <a:solidFill>
              <a:srgbClr val="6E4B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187BA-6132-46A4-BECA-038ED4DE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95700"/>
            <a:ext cx="4781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E4BB5"/>
                </a:solidFill>
              </a:defRPr>
            </a:pPr>
            <a:r>
              <a:rPr sz="1875" b="1">
                <a:solidFill>
                  <a:srgbClr val="6E4BB5"/>
                </a:solidFill>
              </a:rPr>
              <a:t>resolve soft mode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E21CB-6DD1-4B3B-8DEF-EE6B0459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76700"/>
            <a:ext cx="478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auto -&gt; anchor-only for label-free-group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5362E-B144-414E-B5E8-44370ED1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62450"/>
            <a:ext cx="478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auto -&gt; semantic for legacy backends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BD47F-D4E3-4889-8642-CA936A7D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133850"/>
            <a:ext cx="22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36579"/>
                </a:solidFill>
              </a:defRPr>
            </a:pPr>
            <a:r>
              <a:rPr sz="2250" b="1">
                <a:solidFill>
                  <a:srgbClr val="536579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CB6339-CAFC-423D-9942-ACD7A2C0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2462" y="3505200"/>
            <a:ext cx="5231638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4F5EA"/>
          </a:solidFill>
          <a:ln xmlns:a="http://schemas.openxmlformats.org/drawingml/2006/main" w="9525">
            <a:solidFill>
              <a:srgbClr val="1A7F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69F36-95B5-42C0-ADAC-19E8DF71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695700"/>
            <a:ext cx="4781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A7F4B"/>
                </a:solidFill>
              </a:defRPr>
            </a:pPr>
            <a:r>
              <a:rPr sz="1875" b="1">
                <a:solidFill>
                  <a:srgbClr val="1A7F4B"/>
                </a:solidFill>
              </a:rPr>
              <a:t>write provenance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E20DF0-365C-4FC9-99F8-10036ED0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076700"/>
            <a:ext cx="478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active_soft_alignment_mode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0292E-B8A3-4530-9063-CB277703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362450"/>
            <a:ext cx="478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fallback reason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339018-787E-4CED-AC15-DFE4EDB0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648200"/>
            <a:ext cx="478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runtime and QC columns</a:t>
            </a:r>
          </a:p>
        </p:txBody>
      </p:sp>
      <p:sp>
        <p:nvSpPr>
          <p:cNvPr id="20" name="mode-table-header">
            <a:extLst xmlns:a="http://schemas.openxmlformats.org/drawingml/2006/main">
              <a:ext uri="{FF2B5EF4-FFF2-40B4-BE49-F238E27FC236}">
                <a16:creationId xmlns:a16="http://schemas.microsoft.com/office/drawing/2014/main" id="{297E5DDE-5B5A-4C79-A55F-D4DFBE92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04485"/>
            <a:ext cx="3080095" cy="354330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12212F"/>
          </a:solidFill>
          <a:ln xmlns:a="http://schemas.openxmlformats.org/drawingml/2006/main" w="9525">
            <a:solidFill>
              <a:srgbClr val="1221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0C3A9-D6F0-42B1-B229-2EBA7EA5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2895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User mode</a:t>
            </a:r>
          </a:p>
        </p:txBody>
      </p:sp>
      <p:sp>
        <p:nvSpPr>
          <p:cNvPr id="22" name="mode-table-header">
            <a:extLst xmlns:a="http://schemas.openxmlformats.org/drawingml/2006/main">
              <a:ext uri="{FF2B5EF4-FFF2-40B4-BE49-F238E27FC236}">
                <a16:creationId xmlns:a16="http://schemas.microsoft.com/office/drawing/2014/main" id="{9D4953B9-7AFC-4D96-BE67-46681CEF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145" y="5404485"/>
            <a:ext cx="3804823" cy="354330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12212F"/>
          </a:solidFill>
          <a:ln xmlns:a="http://schemas.openxmlformats.org/drawingml/2006/main" w="9525">
            <a:solidFill>
              <a:srgbClr val="12212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F6EEA9-AE7B-435B-8997-A8E5E293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486400"/>
            <a:ext cx="361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label-free-group</a:t>
            </a:r>
          </a:p>
        </p:txBody>
      </p:sp>
      <p:sp>
        <p:nvSpPr>
          <p:cNvPr id="24" name="mode-table-header">
            <a:extLst xmlns:a="http://schemas.openxmlformats.org/drawingml/2006/main">
              <a:ext uri="{FF2B5EF4-FFF2-40B4-BE49-F238E27FC236}">
                <a16:creationId xmlns:a16="http://schemas.microsoft.com/office/drawing/2014/main" id="{6EDAF3EE-AF68-4617-BD2D-548B7A4D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118" y="5404485"/>
            <a:ext cx="4529552" cy="354330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12212F"/>
          </a:solidFill>
          <a:ln xmlns:a="http://schemas.openxmlformats.org/drawingml/2006/main" w="9525">
            <a:solidFill>
              <a:srgbClr val="1221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0BD9BB-3D83-4614-B1BF-65668353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86400"/>
            <a:ext cx="434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contour-tps / coda-image</a:t>
            </a:r>
          </a:p>
        </p:txBody>
      </p:sp>
      <p:sp>
        <p:nvSpPr>
          <p:cNvPr id="26" name="mode-table-header">
            <a:extLst xmlns:a="http://schemas.openxmlformats.org/drawingml/2006/main">
              <a:ext uri="{FF2B5EF4-FFF2-40B4-BE49-F238E27FC236}">
                <a16:creationId xmlns:a16="http://schemas.microsoft.com/office/drawing/2014/main" id="{021F725A-A8AE-4806-AC05-BF919709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9820" y="5404485"/>
            <a:ext cx="5254280" cy="354330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12212F"/>
          </a:solidFill>
          <a:ln xmlns:a="http://schemas.openxmlformats.org/drawingml/2006/main" w="9525">
            <a:solidFill>
              <a:srgbClr val="1221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56BC6C-95E3-45FF-A844-695FFC05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5486400"/>
            <a:ext cx="5067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Failure behavior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21E447-E225-458C-AABA-A2CCA65E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5965"/>
            <a:ext cx="3080095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80F771-D1EB-422E-9DA0-E891143E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86450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auto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E160CC-FD9F-447E-9C4B-9A26D794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145" y="5815965"/>
            <a:ext cx="3804823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8CE0D6-642B-4D48-8ECC-698B5988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8864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anchor-only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3A6F99-C41E-4FFD-8BA4-77D01940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118" y="5815965"/>
            <a:ext cx="4529552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F0034E-DC25-49E5-B194-E9EA2943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886450"/>
            <a:ext cx="434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semantic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454D40-91E6-464C-831C-9B7B9049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9820" y="5815965"/>
            <a:ext cx="5254280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57A2DE-7313-4F25-9950-92963C0F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588645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label-free anchor-only unsafe -&gt; hard-only fallback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B75AD8-D4F9-4AAD-93D9-0738D6FD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3080095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577E64-3DFA-4839-8EC0-EFBDAD56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05550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anchor-only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7EA4E2-66A3-4B7A-A434-F2687184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145" y="6219825"/>
            <a:ext cx="3804823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1D3133-5B65-48B3-A67B-FDCC358E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3055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anchor-only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A0F747-F0DA-4A82-BEBA-7B42D2CD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118" y="6219825"/>
            <a:ext cx="4529552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B2400B-A77E-43B8-B4E9-D1560661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305550"/>
            <a:ext cx="434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anchor-only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F3F075-5BB6-49AD-8CF3-04D846CA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9820" y="6219825"/>
            <a:ext cx="5254280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3E614F-737A-499C-AC0A-4346AAA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630555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unsafe -&gt; hard-only fallback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678346-98A6-4982-ABD4-A23E2578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3685"/>
            <a:ext cx="3080095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EAC87A-98D3-470B-B019-E772A6EA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05600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semantic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233D0C-0DF8-4AEA-83B2-C3F08F9A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145" y="6623685"/>
            <a:ext cx="3804823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D71686-15F1-4E03-A65D-25B07FB5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70560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semantic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817272-6FE1-425E-A915-09B7919D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118" y="6623685"/>
            <a:ext cx="4529552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7DDC5F-1F40-4742-86CC-5C5551C2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05600"/>
            <a:ext cx="434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semantic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0E7693-57D1-4D7B-8634-1582F53B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9820" y="6623685"/>
            <a:ext cx="5254280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D080EA-77B8-4770-9F32-4C8F91E1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670560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legacy acceptance logic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92A38D-0F3E-4451-BF6C-78F33F30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27545"/>
            <a:ext cx="3080095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FA54AD-5617-47E6-B90B-CE39E196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105650"/>
            <a:ext cx="2895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none / --no-soft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D1869AF-0C82-4EDB-B6D0-74635147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145" y="7027545"/>
            <a:ext cx="3804823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C6D9C5E-84FB-4ED3-80AD-294A2AF3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71056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hard-only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B4421D4-C7F6-40C0-81FE-4D12629A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118" y="7027545"/>
            <a:ext cx="4529552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57B4C3-4123-4676-A981-EC13E32E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105650"/>
            <a:ext cx="434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hard-only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0B5F5CB-FA56-43A3-BFCE-A9CC6F83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9820" y="7027545"/>
            <a:ext cx="5254280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501C88F-80FF-4EF8-9E20-91FDF457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7105650"/>
            <a:ext cx="5067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no soft artifacts</a:t>
            </a:r>
          </a:p>
        </p:txBody>
      </p:sp>
      <p:sp>
        <p:nvSpPr>
          <p:cNvPr id="60" name="source-rail">
            <a:extLst xmlns:a="http://schemas.openxmlformats.org/drawingml/2006/main">
              <a:ext uri="{FF2B5EF4-FFF2-40B4-BE49-F238E27FC236}">
                <a16:creationId xmlns:a16="http://schemas.microsoft.com/office/drawing/2014/main" id="{F874DF0E-EE52-4034-A0CB-5AD4386B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72600"/>
            <a:ext cx="6972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Code map: src/histoseg/threed/multislice.py::_resolve_soft_alignment_mode and pairwise metrics writer.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25A0AD3-2AA7-4196-8E15-C97B6257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372600"/>
            <a:ext cx="182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HistoSeg 3D alignment logic</a:t>
            </a:r>
          </a:p>
        </p:txBody>
      </p:sp>
    </p:spTree>
    <p:extLst>
      <p:ext uri="{BB962C8B-B14F-4D97-AF65-F5344CB8AC3E}">
        <p14:creationId xmlns:p14="http://schemas.microsoft.com/office/powerpoint/2010/main" val="5713500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F898E028-4988-4E0E-8CF4-55C3FF09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76D988-0660-4D3E-A4B8-3CBC5978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4076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212F"/>
                </a:solidFill>
              </a:defRPr>
            </a:pPr>
            <a:r>
              <a:rPr sz="3900" b="1">
                <a:solidFill>
                  <a:srgbClr val="12212F"/>
                </a:solidFill>
              </a:rPr>
              <a:t>Hard 阶段输出什么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8D4BF1C-2FD1-4863-B6DD-A81F3ABA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9067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36579"/>
                </a:solidFill>
              </a:defRPr>
            </a:pPr>
            <a:r>
              <a:rPr sz="1875">
                <a:solidFill>
                  <a:srgbClr val="536579"/>
                </a:solidFill>
              </a:rPr>
              <a:t>Anchor-only soft 不重新发明匹配。它继承 hard 阶段已经筛好的 partial-anchor evidence。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B9D03-D994-485B-9CD4-1B659161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6620"/>
            <a:ext cx="8631079" cy="66294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74EBD-C35D-488B-AD14-E2FC1BC3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832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117"/>
                </a:solidFill>
              </a:defRPr>
            </a:pPr>
            <a:r>
              <a:rPr sz="1200">
                <a:solidFill>
                  <a:srgbClr val="0B1117"/>
                </a:solidFill>
              </a:rPr>
              <a:t>partial_matches_csv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12475-C4F0-46CC-92BF-91C0A82D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832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hard 阶段匹配表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C056C-E438-4E56-9C7B-489C5B08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1010"/>
            <a:ext cx="8631079" cy="66294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34D1E-6AEC-4FD1-A507-D84DB48C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832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117"/>
                </a:solidFill>
              </a:defRPr>
            </a:pPr>
            <a:r>
              <a:rPr sz="1200">
                <a:solidFill>
                  <a:srgbClr val="0B1117"/>
                </a:solidFill>
              </a:rPr>
              <a:t>used_for_transform == True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943B1-F3B1-4AF7-8A1C-6173CB67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832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只有这些 anchor 进入 residual TPS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2DB92-78E8-4DD7-B748-412DBBD9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8631079" cy="66294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74E74-76C3-4AFD-A818-480EAE11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832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117"/>
                </a:solidFill>
              </a:defRPr>
            </a:pPr>
            <a:r>
              <a:rPr sz="1200">
                <a:solidFill>
                  <a:srgbClr val="0B1117"/>
                </a:solidFill>
              </a:rPr>
              <a:t>aligned_moving_centroid_x/y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77EE1-2567-40DE-BE57-7A0B3739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832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hard transform 后的 moving source 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F4333E-FE70-4420-A6B0-2E20DBCE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9790"/>
            <a:ext cx="8631079" cy="66294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A904B-9768-4520-8C70-2890B12F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57900"/>
            <a:ext cx="832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117"/>
                </a:solidFill>
              </a:defRPr>
            </a:pPr>
            <a:r>
              <a:rPr sz="1200">
                <a:solidFill>
                  <a:srgbClr val="0B1117"/>
                </a:solidFill>
              </a:rPr>
              <a:t>fixed_centroid_x/y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98F6D-0965-4E23-A673-0C8D4223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86500"/>
            <a:ext cx="832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fixed target 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66CB7-1FE9-42BD-875D-B221B2A8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774180"/>
            <a:ext cx="8631079" cy="66294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8540E-6F4A-4CDF-931C-1E34F38E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96100"/>
            <a:ext cx="8324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117"/>
                </a:solidFill>
              </a:defRPr>
            </a:pPr>
            <a:r>
              <a:rPr sz="1200">
                <a:solidFill>
                  <a:srgbClr val="0B1117"/>
                </a:solidFill>
              </a:rPr>
              <a:t>match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3BD35-63A2-4D02-92CE-7AA921B6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24700"/>
            <a:ext cx="8324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active / passive / no-counterpart 的溯源基础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A94E6E-88DD-4AD1-B991-F727AC76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5029" y="1775460"/>
            <a:ext cx="7809071" cy="7322820"/>
          </a:xfrm>
          <a:prstGeom xmlns:a="http://schemas.openxmlformats.org/drawingml/2006/main" prst="roundRect">
            <a:avLst>
              <a:gd name="adj" fmla="val 15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41A0E-0D17-45D3-897B-212FB7E8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3B6"/>
          </a:solidFill>
          <a:ln xmlns:a="http://schemas.openxmlformats.org/drawingml/2006/main" w="0">
            <a:solidFill>
              <a:srgbClr val="1E63B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D82DF0-567C-44A3-9CFB-7AA99BFD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12420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fixed contour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626A61-E86C-43CF-835C-9AC4244F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1432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4040"/>
          </a:solidFill>
          <a:ln xmlns:a="http://schemas.openxmlformats.org/drawingml/2006/main" w="0">
            <a:solidFill>
              <a:srgbClr val="B640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5674A3-6650-4029-9480-E159C00E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124200"/>
            <a:ext cx="1352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moving hard-aligned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608EEC-D374-4401-9B26-38D4331C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31432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BB5"/>
          </a:solidFill>
          <a:ln xmlns:a="http://schemas.openxmlformats.org/drawingml/2006/main" w="0">
            <a:solidFill>
              <a:srgbClr val="6E4B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9BE5C5-9EF7-4F5D-98BB-990CCAEB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028950"/>
            <a:ext cx="800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used anchor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D35967-F9A6-4451-A344-FDFC2C58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57600"/>
            <a:ext cx="2286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28575">
            <a:solidFill>
              <a:srgbClr val="1E63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DF5500-1B1C-47C8-A6FC-5BEDCEED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3657600"/>
            <a:ext cx="2286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5E5"/>
          </a:solidFill>
          <a:ln xmlns:a="http://schemas.openxmlformats.org/drawingml/2006/main" w="28575">
            <a:solidFill>
              <a:srgbClr val="B640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E4EE4E-75FA-4BF9-94CC-E526242A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0" y="3657600"/>
            <a:ext cx="22860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F"/>
          </a:solidFill>
          <a:ln xmlns:a="http://schemas.openxmlformats.org/drawingml/2006/main" w="28575">
            <a:solidFill>
              <a:srgbClr val="6E4B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C2BCDA-A010-4E5F-92B5-A2DC503D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296150"/>
            <a:ext cx="7162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关键点：不是所有轮廓都能拉 TPS。只有 hard 阶段确认的 active anchors 能产生残差约束。</a:t>
            </a:r>
          </a:p>
        </p:txBody>
      </p:sp>
      <p:sp>
        <p:nvSpPr>
          <p:cNvPr id="30" name="source-rail">
            <a:extLst xmlns:a="http://schemas.openxmlformats.org/drawingml/2006/main">
              <a:ext uri="{FF2B5EF4-FFF2-40B4-BE49-F238E27FC236}">
                <a16:creationId xmlns:a16="http://schemas.microsoft.com/office/drawing/2014/main" id="{CFDAB798-BD17-498F-BC15-BAE16D72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72600"/>
            <a:ext cx="5848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Code map: src/histoseg/threed/label_free_alignment.py::run_anchor_only_residual_tps.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B7BCB1-CF0B-442C-86E6-F56E57E4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372600"/>
            <a:ext cx="182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HistoSeg 3D alignment logic</a:t>
            </a:r>
          </a:p>
        </p:txBody>
      </p:sp>
    </p:spTree>
    <p:extLst>
      <p:ext uri="{BB962C8B-B14F-4D97-AF65-F5344CB8AC3E}">
        <p14:creationId xmlns:p14="http://schemas.microsoft.com/office/powerpoint/2010/main" val="6367176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A45D3D73-1FCB-4B4C-B307-CE0011EF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71EE6D-CDA1-4E5A-984F-74DCA426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6286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212F"/>
                </a:solidFill>
              </a:defRPr>
            </a:pPr>
            <a:r>
              <a:rPr sz="3900" b="1">
                <a:solidFill>
                  <a:srgbClr val="12212F"/>
                </a:solidFill>
              </a:rPr>
              <a:t>Residual Field TPS 的数学定义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903140F-75E2-4918-A2B2-682AF584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9734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36579"/>
                </a:solidFill>
              </a:defRPr>
            </a:pPr>
            <a:r>
              <a:rPr sz="1875">
                <a:solidFill>
                  <a:srgbClr val="536579"/>
                </a:solidFill>
              </a:rPr>
              <a:t>先用 hard transform 解决大位姿，再对小残差拟合平滑场，避免 TPS 直接处理大旋转/大平移。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8A373-5401-4F63-9DCF-72103502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8220075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1E63B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41E8B-DA27-4C87-92B2-3EAE64DA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765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117"/>
                </a:solidFill>
              </a:defRPr>
            </a:pPr>
            <a:r>
              <a:rPr sz="1500">
                <a:solidFill>
                  <a:srgbClr val="0B1117"/>
                </a:solidFill>
              </a:rPr>
              <a:t>s_i = H(moving_centroid_i)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699C3-F2E2-4FD8-B019-8C916F95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765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117"/>
                </a:solidFill>
              </a:defRPr>
            </a:pPr>
            <a:r>
              <a:rPr sz="1500">
                <a:solidFill>
                  <a:srgbClr val="0B1117"/>
                </a:solidFill>
              </a:rPr>
              <a:t>f_i = fixed_centroid_i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48D0E-9065-4F7D-9854-19344D27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86350"/>
            <a:ext cx="765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117"/>
                </a:solidFill>
              </a:defRPr>
            </a:pPr>
            <a:r>
              <a:rPr sz="1500">
                <a:solidFill>
                  <a:srgbClr val="0B1117"/>
                </a:solidFill>
              </a:rPr>
              <a:t>r_i = f_i - s_i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819D5-736E-4716-9BBF-57836CCB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67350"/>
            <a:ext cx="765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117"/>
                </a:solidFill>
              </a:defRPr>
            </a:pPr>
            <a:r>
              <a:rPr sz="1500">
                <a:solidFill>
                  <a:srgbClr val="0B1117"/>
                </a:solidFill>
              </a:rPr>
              <a:t>R = RBFInterpolator(s_i -&gt; r_i)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E9E7D-B6E0-468E-B274-90936E83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48350"/>
            <a:ext cx="7658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117"/>
                </a:solidFill>
              </a:defRPr>
            </a:pPr>
            <a:r>
              <a:rPr sz="1500">
                <a:solidFill>
                  <a:srgbClr val="0B1117"/>
                </a:solidFill>
              </a:rPr>
              <a:t>x_soft = x_hard + R(x_hard)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79980-2248-4CD2-9D48-C855AF19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34150"/>
            <a:ext cx="8229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实现上用 residual field，而不是直接拟合 moving -&gt; fixed。这样 passive geometry 在 hard 坐标系里只接受小的、锚点约束的松弛。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A4825-7792-4C8B-80C7-337151FD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061210"/>
            <a:ext cx="8220075" cy="7037070"/>
          </a:xfrm>
          <a:prstGeom xmlns:a="http://schemas.openxmlformats.org/drawingml/2006/main" prst="roundRect">
            <a:avLst>
              <a:gd name="adj" fmla="val 16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6441D-9E42-4C2B-A22C-B0CDF652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24350"/>
            <a:ext cx="7658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212F"/>
                </a:solidFill>
              </a:defRPr>
            </a:pPr>
            <a:r>
              <a:rPr sz="2325" b="1">
                <a:solidFill>
                  <a:srgbClr val="12212F"/>
                </a:solidFill>
              </a:rPr>
              <a:t>默认参数</a:t>
            </a:r>
          </a:p>
        </p:txBody>
      </p:sp>
      <p:sp>
        <p:nvSpPr>
          <p:cNvPr id="13" name="param-table-header">
            <a:extLst xmlns:a="http://schemas.openxmlformats.org/drawingml/2006/main">
              <a:ext uri="{FF2B5EF4-FFF2-40B4-BE49-F238E27FC236}">
                <a16:creationId xmlns:a16="http://schemas.microsoft.com/office/drawing/2014/main" id="{AAE82206-52A1-4EF2-9FCA-77617F02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857750"/>
            <a:ext cx="2122331" cy="354330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12212F"/>
          </a:solidFill>
          <a:ln xmlns:a="http://schemas.openxmlformats.org/drawingml/2006/main" w="9525">
            <a:solidFill>
              <a:srgbClr val="1221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D2C2E8-3DA2-43FB-98D5-B37B7A13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53000"/>
            <a:ext cx="1924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Parameter</a:t>
            </a:r>
          </a:p>
        </p:txBody>
      </p:sp>
      <p:sp>
        <p:nvSpPr>
          <p:cNvPr id="15" name="param-table-header">
            <a:extLst xmlns:a="http://schemas.openxmlformats.org/drawingml/2006/main">
              <a:ext uri="{FF2B5EF4-FFF2-40B4-BE49-F238E27FC236}">
                <a16:creationId xmlns:a16="http://schemas.microsoft.com/office/drawing/2014/main" id="{3C29C173-DCEE-4185-B5F9-909D9646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9256" y="4857750"/>
            <a:ext cx="1591748" cy="354330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12212F"/>
          </a:solidFill>
          <a:ln xmlns:a="http://schemas.openxmlformats.org/drawingml/2006/main" w="9525">
            <a:solidFill>
              <a:srgbClr val="1221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CA580-01FA-424D-B530-0B97CCC4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953000"/>
            <a:ext cx="140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Default</a:t>
            </a:r>
          </a:p>
        </p:txBody>
      </p:sp>
      <p:sp>
        <p:nvSpPr>
          <p:cNvPr id="17" name="param-table-header">
            <a:extLst xmlns:a="http://schemas.openxmlformats.org/drawingml/2006/main">
              <a:ext uri="{FF2B5EF4-FFF2-40B4-BE49-F238E27FC236}">
                <a16:creationId xmlns:a16="http://schemas.microsoft.com/office/drawing/2014/main" id="{17E099A4-CDF3-4668-A1F3-ACB29888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154" y="4857750"/>
            <a:ext cx="3820196" cy="354330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12212F"/>
          </a:solidFill>
          <a:ln xmlns:a="http://schemas.openxmlformats.org/drawingml/2006/main" w="9525">
            <a:solidFill>
              <a:srgbClr val="1221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FF5E1-4AC3-44AC-A726-A11D8312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4953000"/>
            <a:ext cx="3638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417FEF-1DBA-4646-A0AB-2AEFBC43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269230"/>
            <a:ext cx="2122331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856903-3633-4538-A673-3F3864D1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353050"/>
            <a:ext cx="1924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bbox padding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76CC46-62AD-4D1D-9051-B8DFFD20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9256" y="5269230"/>
            <a:ext cx="1591748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9DA2B8-86CB-44F6-9952-3D11259F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3050"/>
            <a:ext cx="140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0.10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A693B-BDD0-4EB8-AA64-889C3A96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154" y="5269230"/>
            <a:ext cx="3820196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35E70B-6A00-48A3-981B-FEFE1B0E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5353050"/>
            <a:ext cx="3638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union bbox 外扩，覆盖边缘 passive geometry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4C344E-527C-42EC-B275-8DDA78A2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673090"/>
            <a:ext cx="2122331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4A6EAD-CEB6-4D82-BBA9-9EEA81A2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753100"/>
            <a:ext cx="1924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identity padding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BD4FC6-8A1B-4CCD-B8BB-1A5D6696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9256" y="5673090"/>
            <a:ext cx="1591748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B79CDF-5006-4AD4-9BD4-8F52AC46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753100"/>
            <a:ext cx="140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16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F1196F-732F-41A4-9770-CBA7731C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154" y="5673090"/>
            <a:ext cx="3820196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F7E8B5-3989-462E-8F0A-FF4F3CB1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5753100"/>
            <a:ext cx="3638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远离锚点处残差固定为 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55299A-1E6B-41CA-9333-2FE48557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076950"/>
            <a:ext cx="2122331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A883B2-125B-460C-81E4-9682F6C8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153150"/>
            <a:ext cx="1924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RBF smoothing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9F5831-42FB-4B6C-9D1D-2CB5DBF5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9256" y="6076950"/>
            <a:ext cx="1591748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992C20-68FE-4AF6-B6F0-50D69603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153150"/>
            <a:ext cx="140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1e-4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A65978-04F8-452C-88F0-1FD6E27E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154" y="6076950"/>
            <a:ext cx="3820196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2152C3-A82A-4267-9621-16B6C6FA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6153150"/>
            <a:ext cx="3638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轻度平滑，降低过拟合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120501-F1C9-4058-A2D5-7B593276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480810"/>
            <a:ext cx="2122331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74399F-C934-4BDE-A988-7F56A52E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553200"/>
            <a:ext cx="1924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Jacobian grid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CF1278-7701-43FE-A6DE-5C6E1DF2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9256" y="6480810"/>
            <a:ext cx="1591748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89BE7E-17CC-4735-88D2-0EBB23BB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140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50 x 50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5849A8-2D9E-42F3-ACDF-691D7107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154" y="6480810"/>
            <a:ext cx="3820196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A18238-C5D1-48D6-B306-7CE05581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6553200"/>
            <a:ext cx="3638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检测 fold-over / self-crossing</a:t>
            </a:r>
          </a:p>
        </p:txBody>
      </p:sp>
      <p:sp>
        <p:nvSpPr>
          <p:cNvPr id="43" name="source-rail">
            <a:extLst xmlns:a="http://schemas.openxmlformats.org/drawingml/2006/main">
              <a:ext uri="{FF2B5EF4-FFF2-40B4-BE49-F238E27FC236}">
                <a16:creationId xmlns:a16="http://schemas.microsoft.com/office/drawing/2014/main" id="{C13239D8-A42C-4E50-B456-02F5B001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46785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Local repo state and A100 validation logs, 2026-05-08.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3865B0-0E7E-4505-AA4A-994275E5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372600"/>
            <a:ext cx="182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HistoSeg 3D alignment logic</a:t>
            </a:r>
          </a:p>
        </p:txBody>
      </p:sp>
    </p:spTree>
    <p:extLst>
      <p:ext uri="{BB962C8B-B14F-4D97-AF65-F5344CB8AC3E}">
        <p14:creationId xmlns:p14="http://schemas.microsoft.com/office/powerpoint/2010/main" val="1455073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26D4D1C9-8714-481E-8AAE-D41F92F6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1AB2E6-08EE-405C-96B8-F8366C2D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33718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212F"/>
                </a:solidFill>
              </a:defRPr>
            </a:pPr>
            <a:r>
              <a:rPr sz="3900" b="1">
                <a:solidFill>
                  <a:srgbClr val="12212F"/>
                </a:solidFill>
              </a:rPr>
              <a:t>Identity padding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34E1862-E814-4517-946C-34DE5C04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306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36579"/>
                </a:solidFill>
              </a:defRPr>
            </a:pPr>
            <a:r>
              <a:rPr sz="1875">
                <a:solidFill>
                  <a:srgbClr val="536579"/>
                </a:solidFill>
              </a:rPr>
              <a:t>在 fixed + hard-aligned moving 的 union bbox 外扩区域加入 residual=0 的虚拟点，限制 TPS 外推漂移。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424FC-BC0B-44C4-8CCC-E18970D1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5570"/>
            <a:ext cx="8631079" cy="6442710"/>
          </a:xfrm>
          <a:prstGeom xmlns:a="http://schemas.openxmlformats.org/drawingml/2006/main" prst="roundRect">
            <a:avLst>
              <a:gd name="adj" fmla="val 1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F199B-0550-454E-96DC-705A516A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D8E1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4F54F-61A4-4C68-AFBA-A884863E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62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D8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297BB-7527-4AE3-B473-5A943F7B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D8E1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50B46-EAA8-4D00-BBB3-A39E1649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05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D8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0E1ED-D9A8-4377-87B6-DF186436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1054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BB5"/>
          </a:solidFill>
          <a:ln xmlns:a="http://schemas.openxmlformats.org/drawingml/2006/main" w="0">
            <a:solidFill>
              <a:srgbClr val="6E4B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68852-85CA-4407-81CF-90A6128D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943600"/>
            <a:ext cx="1638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4BB5"/>
                </a:solidFill>
              </a:defRPr>
            </a:pPr>
            <a:r>
              <a:rPr sz="1500" b="1">
                <a:solidFill>
                  <a:srgbClr val="6E4BB5"/>
                </a:solidFill>
              </a:rPr>
              <a:t>active anchor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8C014-1E46-4463-BD0D-E7755E5D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05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D8E1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F28814-E8A8-458F-81CE-9A35A7B3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48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D8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C5746-2396-4D31-8E4B-8B5B00F7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248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D8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ACA65-1E4B-4E42-8013-35C594DE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248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D8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44EC7-CEFB-446F-924D-ACC86EFC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5057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4BB5"/>
          </a:solidFill>
          <a:ln xmlns:a="http://schemas.openxmlformats.org/drawingml/2006/main" w="0">
            <a:solidFill>
              <a:srgbClr val="6E4BB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259C8-687D-454E-92F0-885AC434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391400"/>
            <a:ext cx="1352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real residual anchors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E60B71-0627-41AB-9E1F-3038566F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5057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D8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5D50E6-A133-4798-A86A-0D2ACEB1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7486650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identity padding anchors, residual=0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17546-5FAB-4BC7-9EFE-E333FCBD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339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212F"/>
                </a:solidFill>
              </a:defRPr>
            </a:pPr>
            <a:r>
              <a:rPr sz="2325" b="1">
                <a:solidFill>
                  <a:srgbClr val="12212F"/>
                </a:solidFill>
              </a:rPr>
              <a:t>为什么需要 padding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B8DE0-C0C9-491A-B9C5-CFA41717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486400"/>
            <a:ext cx="7810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如果真实 anchor 只集中在组织一侧，RBF/TPS 在远离 anchor 的区域会外推。identity padding 把无证据区域的残差拉回 0，避免 passive contour 被非物理地甩动。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CDC37B-C99A-4052-A035-C02569DA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34150"/>
            <a:ext cx="781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46A00"/>
                </a:solidFill>
              </a:defRPr>
            </a:pPr>
            <a:r>
              <a:rPr sz="1950" b="1">
                <a:solidFill>
                  <a:srgbClr val="B46A00"/>
                </a:solidFill>
              </a:rPr>
              <a:t>这不是新增匹配证据；它只是数值稳定约束。</a:t>
            </a:r>
          </a:p>
        </p:txBody>
      </p:sp>
      <p:sp>
        <p:nvSpPr>
          <p:cNvPr id="22" name="source-rail">
            <a:extLst xmlns:a="http://schemas.openxmlformats.org/drawingml/2006/main">
              <a:ext uri="{FF2B5EF4-FFF2-40B4-BE49-F238E27FC236}">
                <a16:creationId xmlns:a16="http://schemas.microsoft.com/office/drawing/2014/main" id="{FC865B97-00D5-4C34-B59F-8D4A5800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46785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Local repo state and A100 validation logs, 2026-05-08.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9377D1-D2F8-4B37-B27E-A024D654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372600"/>
            <a:ext cx="182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HistoSeg 3D alignment logic</a:t>
            </a:r>
          </a:p>
        </p:txBody>
      </p:sp>
    </p:spTree>
    <p:extLst>
      <p:ext uri="{BB962C8B-B14F-4D97-AF65-F5344CB8AC3E}">
        <p14:creationId xmlns:p14="http://schemas.microsoft.com/office/powerpoint/2010/main" val="11920800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0B07A5E8-F492-4033-9340-2414DFA6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30955E-CE93-4F47-A908-6673C27C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9429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212F"/>
                </a:solidFill>
              </a:defRPr>
            </a:pPr>
            <a:r>
              <a:rPr sz="3900" b="1">
                <a:solidFill>
                  <a:srgbClr val="12212F"/>
                </a:solidFill>
              </a:rPr>
              <a:t>Active / Passive / No-counterpart 的处理方式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E848F35-B2AE-43EE-B1A1-DAD44CC7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7924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36579"/>
                </a:solidFill>
              </a:defRPr>
            </a:pPr>
            <a:r>
              <a:rPr sz="1875">
                <a:solidFill>
                  <a:srgbClr val="536579"/>
                </a:solidFill>
              </a:rPr>
              <a:t>新的语义不是“所有 contour 都对齐”，而是“有证据者拉动，无证据者随动”。</a:t>
            </a:r>
          </a:p>
        </p:txBody>
      </p:sp>
      <p:sp>
        <p:nvSpPr>
          <p:cNvPr id="4" name="state-table-header">
            <a:extLst xmlns:a="http://schemas.openxmlformats.org/drawingml/2006/main">
              <a:ext uri="{FF2B5EF4-FFF2-40B4-BE49-F238E27FC236}">
                <a16:creationId xmlns:a16="http://schemas.microsoft.com/office/drawing/2014/main" id="{CAD2DB26-40CE-4342-9104-8DAF89C2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4345"/>
            <a:ext cx="3646289" cy="354330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12212F"/>
          </a:solidFill>
          <a:ln xmlns:a="http://schemas.openxmlformats.org/drawingml/2006/main" w="9525">
            <a:solidFill>
              <a:srgbClr val="1221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2312E-985C-45D8-B0D5-42CC98D1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3448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Contour state</a:t>
            </a:r>
          </a:p>
        </p:txBody>
      </p:sp>
      <p:sp>
        <p:nvSpPr>
          <p:cNvPr id="6" name="state-table-header">
            <a:extLst xmlns:a="http://schemas.openxmlformats.org/drawingml/2006/main">
              <a:ext uri="{FF2B5EF4-FFF2-40B4-BE49-F238E27FC236}">
                <a16:creationId xmlns:a16="http://schemas.microsoft.com/office/drawing/2014/main" id="{627B2755-FF8F-4F0E-9439-D621619B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339" y="4284345"/>
            <a:ext cx="2951758" cy="354330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12212F"/>
          </a:solidFill>
          <a:ln xmlns:a="http://schemas.openxmlformats.org/drawingml/2006/main" w="9525">
            <a:solidFill>
              <a:srgbClr val="1221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56F30-2FC0-4980-9209-5C193F8A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62450"/>
            <a:ext cx="2762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Produces TPS force?</a:t>
            </a:r>
          </a:p>
        </p:txBody>
      </p:sp>
      <p:sp>
        <p:nvSpPr>
          <p:cNvPr id="8" name="state-table-header">
            <a:extLst xmlns:a="http://schemas.openxmlformats.org/drawingml/2006/main">
              <a:ext uri="{FF2B5EF4-FFF2-40B4-BE49-F238E27FC236}">
                <a16:creationId xmlns:a16="http://schemas.microsoft.com/office/drawing/2014/main" id="{C0C5CCCA-5011-4205-ACCB-611AA2E3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6247" y="4284345"/>
            <a:ext cx="3646289" cy="354330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12212F"/>
          </a:solidFill>
          <a:ln xmlns:a="http://schemas.openxmlformats.org/drawingml/2006/main" w="9525">
            <a:solidFill>
              <a:srgbClr val="1221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C1990-3D72-434E-BBCB-501B8B9D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3448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Moves after soft?</a:t>
            </a:r>
          </a:p>
        </p:txBody>
      </p:sp>
      <p:sp>
        <p:nvSpPr>
          <p:cNvPr id="10" name="state-table-header">
            <a:extLst xmlns:a="http://schemas.openxmlformats.org/drawingml/2006/main">
              <a:ext uri="{FF2B5EF4-FFF2-40B4-BE49-F238E27FC236}">
                <a16:creationId xmlns:a16="http://schemas.microsoft.com/office/drawing/2014/main" id="{E3EA9C83-ADC6-446A-9530-62F28461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9686" y="4284345"/>
            <a:ext cx="6424414" cy="354330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12212F"/>
          </a:solidFill>
          <a:ln xmlns:a="http://schemas.openxmlformats.org/drawingml/2006/main" w="9525">
            <a:solidFill>
              <a:srgbClr val="1221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F1D35-33B7-405B-A6E3-AAA78AA9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62450"/>
            <a:ext cx="6229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773DB-947B-463F-ADC3-56F31032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3646289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E8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7498E-D2BB-499F-BC20-3A76D4E8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3448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4BB5"/>
                </a:solidFill>
              </a:defRPr>
            </a:pPr>
            <a:r>
              <a:rPr sz="1500" b="1">
                <a:solidFill>
                  <a:srgbClr val="6E4BB5"/>
                </a:solidFill>
              </a:rPr>
              <a:t>Active anchor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F00B7-8C8B-4079-81AF-94538492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339" y="4695825"/>
            <a:ext cx="2951758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BA5B3-9975-4108-B7DD-86CFC0C7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6250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Yes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810DE-8994-4849-8C6E-E301C8DA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6247" y="4695825"/>
            <a:ext cx="3646289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E47883-BDDB-49E6-93C5-F6F62825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3448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Yes, residual corrected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0F8D4-3B95-4909-8944-43D16415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9686" y="4695825"/>
            <a:ext cx="6424414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AADE41-1025-474D-8DBB-44951962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62500"/>
            <a:ext cx="6229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hard 阶段确认的高置信度对应关系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456E8-E935-4EAA-9F2F-7112C9C0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3646289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6831D6-6A97-452C-9532-3524B74F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3448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8C79"/>
                </a:solidFill>
              </a:defRPr>
            </a:pPr>
            <a:r>
              <a:rPr sz="1500" b="1">
                <a:solidFill>
                  <a:srgbClr val="0F8C79"/>
                </a:solidFill>
              </a:rPr>
              <a:t>Passive follower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A6A536-D1CB-48A2-8531-C0EE8D62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339" y="5133975"/>
            <a:ext cx="2951758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E3878F-48C9-482E-A87A-CF5865BA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1970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No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120D11-E282-4552-BA93-C7B74BC0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6247" y="5133975"/>
            <a:ext cx="3646289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E88E61-F556-416A-8802-9259ED44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3448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Yes, follows residual field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3E1150-ED0E-44B2-9E0E-DF412577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9686" y="5133975"/>
            <a:ext cx="6424414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17392E-C33A-434B-9D84-F49D111B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219700"/>
            <a:ext cx="6229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可见但没有足够证据作为控制点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F2815F-A522-42AD-A357-82A05BC5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3646289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B6933F-61A4-41FF-8EEB-E1CE586B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3448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46A00"/>
                </a:solidFill>
              </a:defRPr>
            </a:pPr>
            <a:r>
              <a:rPr sz="1500" b="1">
                <a:solidFill>
                  <a:srgbClr val="B46A00"/>
                </a:solidFill>
              </a:rPr>
              <a:t>No-counterpart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22F534-1E13-448F-91E8-2A3DB0A9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339" y="5572125"/>
            <a:ext cx="2951758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79A563-164A-4006-8FEA-741A3630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5785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No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4E4B80-F027-4A2B-AF31-D8C45C17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6247" y="5572125"/>
            <a:ext cx="3646289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AAA07A-82CA-447F-9D6E-79508AEA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57850"/>
            <a:ext cx="3448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Yes, constrained by padding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886715-0B91-4C25-BBB5-C9B6AC52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9686" y="5572125"/>
            <a:ext cx="6424414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36ADAB-2041-4B41-8754-A254A28B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657850"/>
            <a:ext cx="6229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可能是缺失、撕裂、漂移或真实不连续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ACCA02-3164-4585-ABA9-EF7FA823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16840200" cy="655320"/>
          </a:xfrm>
          <a:prstGeom xmlns:a="http://schemas.openxmlformats.org/drawingml/2006/main" prst="roundRect">
            <a:avLst>
              <a:gd name="adj" fmla="val 174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D8025B-49BF-4C81-ADCA-ADBA7D94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19850"/>
            <a:ext cx="16306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这正是截图里 partial-anchor 示例的语义：绿色 moving after soft 可以局部改善，但没有 anchor 的区域不会被强迫去覆盖蓝色 fixed。</a:t>
            </a:r>
          </a:p>
        </p:txBody>
      </p:sp>
      <p:sp>
        <p:nvSpPr>
          <p:cNvPr id="38" name="source-rail">
            <a:extLst xmlns:a="http://schemas.openxmlformats.org/drawingml/2006/main">
              <a:ext uri="{FF2B5EF4-FFF2-40B4-BE49-F238E27FC236}">
                <a16:creationId xmlns:a16="http://schemas.microsoft.com/office/drawing/2014/main" id="{4D1464DD-4AEA-4681-A7E1-AC8FFBE7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46785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Local repo state and A100 validation logs, 2026-05-08.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D098FE-EFBB-47B3-B56A-99EC3A97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372600"/>
            <a:ext cx="182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HistoSeg 3D alignment logic</a:t>
            </a:r>
          </a:p>
        </p:txBody>
      </p:sp>
    </p:spTree>
    <p:extLst>
      <p:ext uri="{BB962C8B-B14F-4D97-AF65-F5344CB8AC3E}">
        <p14:creationId xmlns:p14="http://schemas.microsoft.com/office/powerpoint/2010/main" val="9814410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2A99B3C0-3797-4BFE-BEEC-1993F673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3EE658-B115-4895-97AC-8BA2FD59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1054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212F"/>
                </a:solidFill>
              </a:defRPr>
            </a:pPr>
            <a:r>
              <a:rPr sz="3900" b="1">
                <a:solidFill>
                  <a:srgbClr val="12212F"/>
                </a:solidFill>
              </a:rPr>
              <a:t>Anchor-only 的验收逻辑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8CAD72E-D94C-4378-A4C2-1ECE403D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6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36579"/>
                </a:solidFill>
              </a:defRPr>
            </a:pPr>
            <a:r>
              <a:rPr sz="1875">
                <a:solidFill>
                  <a:srgbClr val="536579"/>
                </a:solidFill>
              </a:rPr>
              <a:t>通过标准从 IoU gain 切换为 anchor residual + topology QC。IoU 仍记录，但不作为 anchor-only 的主判据。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9E602-FF08-4FC8-AF33-B405104C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0340"/>
            <a:ext cx="7398068" cy="1363980"/>
          </a:xfrm>
          <a:prstGeom xmlns:a="http://schemas.openxmlformats.org/drawingml/2006/main" prst="roundRect">
            <a:avLst>
              <a:gd name="adj" fmla="val 8380"/>
            </a:avLst>
          </a:prstGeom>
          <a:solidFill xmlns:a="http://schemas.openxmlformats.org/drawingml/2006/main">
            <a:srgbClr val="EEE8FF"/>
          </a:solidFill>
          <a:ln xmlns:a="http://schemas.openxmlformats.org/drawingml/2006/main" w="9525">
            <a:solidFill>
              <a:srgbClr val="6E4B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DEB84-EF15-4543-B31A-3178FCA2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697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E4BB5"/>
                </a:solidFill>
              </a:defRPr>
            </a:pPr>
            <a:r>
              <a:rPr sz="1275" b="1">
                <a:solidFill>
                  <a:srgbClr val="6E4BB5"/>
                </a:solidFill>
              </a:rPr>
              <a:t>最低证据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E1080-F2A3-4DED-9385-0BFA0C77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6972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12F"/>
                </a:solidFill>
              </a:defRPr>
            </a:pPr>
            <a:r>
              <a:rPr sz="3150" b="1">
                <a:solidFill>
                  <a:srgbClr val="12212F"/>
                </a:solidFill>
              </a:rPr>
              <a:t>anchor 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BF3A2-F61C-40AC-AAE9-182E99C6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697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anchor 太少则 fallback hard-only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25276-CFE8-4921-921E-3156D650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4820"/>
            <a:ext cx="7398068" cy="1363980"/>
          </a:xfrm>
          <a:prstGeom xmlns:a="http://schemas.openxmlformats.org/drawingml/2006/main" prst="roundRect">
            <a:avLst>
              <a:gd name="adj" fmla="val 838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1E63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CE5FE-7C2B-4BF9-9798-C0BA8C68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697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E63B6"/>
                </a:solidFill>
              </a:defRPr>
            </a:pPr>
            <a:r>
              <a:rPr sz="1275" b="1">
                <a:solidFill>
                  <a:srgbClr val="1E63B6"/>
                </a:solidFill>
              </a:rPr>
              <a:t>拟合质量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5EB77-7BE1-42B6-B0FC-8B68E1E2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24400"/>
            <a:ext cx="6972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12F"/>
                </a:solidFill>
              </a:defRPr>
            </a:pPr>
            <a:r>
              <a:rPr sz="3150" b="1">
                <a:solidFill>
                  <a:srgbClr val="12212F"/>
                </a:solidFill>
              </a:rPr>
              <a:t>median / p90 residual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F2B40-16BC-4A07-B8BF-8A341354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76850"/>
            <a:ext cx="697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看 active anchors 是否被安全修正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39209-ADB3-4ADD-AEAD-367FD849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7398068" cy="1363980"/>
          </a:xfrm>
          <a:prstGeom xmlns:a="http://schemas.openxmlformats.org/drawingml/2006/main" prst="roundRect">
            <a:avLst>
              <a:gd name="adj" fmla="val 8380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9525">
            <a:solidFill>
              <a:srgbClr val="0F8C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0C35F-4458-4173-ACF7-272D119F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00750"/>
            <a:ext cx="697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8C79"/>
                </a:solidFill>
              </a:defRPr>
            </a:pPr>
            <a:r>
              <a:rPr sz="1275" b="1">
                <a:solidFill>
                  <a:srgbClr val="0F8C79"/>
                </a:solidFill>
              </a:rPr>
              <a:t>拓扑安全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69445-4601-43CA-A908-6BCB1837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267450"/>
            <a:ext cx="6972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12F"/>
                </a:solidFill>
              </a:defRPr>
            </a:pPr>
            <a:r>
              <a:rPr sz="3150" b="1">
                <a:solidFill>
                  <a:srgbClr val="12212F"/>
                </a:solidFill>
              </a:rPr>
              <a:t>negative Jacobian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AC719-E1C0-4C05-A0A3-396B8018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819900"/>
            <a:ext cx="697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默认阈值 0.001，50x50 grid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F6553-F33A-4A17-989C-27EEE090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83780"/>
            <a:ext cx="7398068" cy="1363980"/>
          </a:xfrm>
          <a:prstGeom xmlns:a="http://schemas.openxmlformats.org/drawingml/2006/main" prst="roundRect">
            <a:avLst>
              <a:gd name="adj" fmla="val 8380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B46A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4F760-CE49-4677-AE4C-4CC18937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562850"/>
            <a:ext cx="697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6A00"/>
                </a:solidFill>
              </a:defRPr>
            </a:pPr>
            <a:r>
              <a:rPr sz="1275" b="1">
                <a:solidFill>
                  <a:srgbClr val="B46A00"/>
                </a:solidFill>
              </a:rPr>
              <a:t>几何有效性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07F239-EE70-4477-8B5B-7E4958BD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829550"/>
            <a:ext cx="6972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12F"/>
                </a:solidFill>
              </a:defRPr>
            </a:pPr>
            <a:r>
              <a:rPr sz="3150" b="1">
                <a:solidFill>
                  <a:srgbClr val="12212F"/>
                </a:solidFill>
              </a:rPr>
              <a:t>invalid geometry count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38F63-EB62-4A81-900C-B74EDE97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382000"/>
            <a:ext cx="6972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变形后 polygon 不应大量失效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C30373-4681-4524-8C90-1AC3433A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018" y="2369820"/>
            <a:ext cx="9042083" cy="6728460"/>
          </a:xfrm>
          <a:prstGeom xmlns:a="http://schemas.openxmlformats.org/drawingml/2006/main" prst="roundRect">
            <a:avLst>
              <a:gd name="adj" fmla="val 1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9D972-5DCE-4692-AF4F-E4FC34DE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38650"/>
            <a:ext cx="836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semantic 模式仍沿用原有 IoU/soft acceptance 逻辑。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99F406-FD8E-4029-BD53-22BCD8DA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33950"/>
            <a:ext cx="836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D8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92640B-ACF6-4827-BAF0-C741FB11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62550"/>
            <a:ext cx="8362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212F"/>
                </a:solidFill>
              </a:defRPr>
            </a:pPr>
            <a:r>
              <a:rPr sz="2325" b="1">
                <a:solidFill>
                  <a:srgbClr val="12212F"/>
                </a:solidFill>
              </a:rPr>
              <a:t>anchor-only 模式下：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5A7BFF-CA1D-4DC8-937F-94B7BA5D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15000"/>
            <a:ext cx="8362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低 IoU 不自动代表失败。它可能表示系统正确保留了物理缺失、撕裂缝隙或非对应组织。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8A7A50-A014-4D83-A06D-98B4FD60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77000"/>
            <a:ext cx="8362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真正要检查的是：锚点残差是否降低，Jacobian 是否安全，passive/no-counterpart 是否只随动不拉扯。</a:t>
            </a:r>
          </a:p>
        </p:txBody>
      </p:sp>
      <p:sp>
        <p:nvSpPr>
          <p:cNvPr id="26" name="source-rail">
            <a:extLst xmlns:a="http://schemas.openxmlformats.org/drawingml/2006/main">
              <a:ext uri="{FF2B5EF4-FFF2-40B4-BE49-F238E27FC236}">
                <a16:creationId xmlns:a16="http://schemas.microsoft.com/office/drawing/2014/main" id="{4056F9B0-A82F-4741-8791-E14D720A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46785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Local repo state and A100 validation logs, 2026-05-08.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0FF7B4-B6E1-4D22-A585-8CF2FA34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372600"/>
            <a:ext cx="182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HistoSeg 3D alignment logic</a:t>
            </a:r>
          </a:p>
        </p:txBody>
      </p:sp>
    </p:spTree>
    <p:extLst>
      <p:ext uri="{BB962C8B-B14F-4D97-AF65-F5344CB8AC3E}">
        <p14:creationId xmlns:p14="http://schemas.microsoft.com/office/powerpoint/2010/main" val="180845111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0B4BD365-2AAA-46C2-AFB8-9212F4A5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269474-2BD3-4B3B-B07B-47CB7B3E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3467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212F"/>
                </a:solidFill>
              </a:defRPr>
            </a:pPr>
            <a:r>
              <a:rPr sz="3900" b="1">
                <a:solidFill>
                  <a:srgbClr val="12212F"/>
                </a:solidFill>
              </a:rPr>
              <a:t>输出和可追溯性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F5105A2-181B-4A93-AD01-1A98D631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11163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36579"/>
                </a:solidFill>
              </a:defRPr>
            </a:pPr>
            <a:r>
              <a:rPr sz="1875">
                <a:solidFill>
                  <a:srgbClr val="536579"/>
                </a:solidFill>
              </a:rPr>
              <a:t>每一对切片都会记录 active mode、anchor-only QC、fallback reason 和 review artifact，方便回看和文章统计。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7931A-ECC8-4193-8CF3-B2B3BD88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2390"/>
            <a:ext cx="8229600" cy="66294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AFB06-9253-4F83-87FA-7A927D23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7924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117"/>
                </a:solidFill>
              </a:defRPr>
            </a:pPr>
            <a:r>
              <a:rPr sz="1200">
                <a:solidFill>
                  <a:srgbClr val="0B1117"/>
                </a:solidFill>
              </a:rPr>
              <a:t>pairwise_alignment_metrics.csv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24CF0-FF49-4068-AF9A-3840FD8D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新增 active_soft_alignment_mode、anchor count、residual、Jacobian、runtime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22307-854B-4679-8DE3-915B0066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7730"/>
            <a:ext cx="8229600" cy="66294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64B68-1C31-4783-A320-B1974577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7924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117"/>
                </a:solidFill>
              </a:defRPr>
            </a:pPr>
            <a:r>
              <a:rPr sz="1200">
                <a:solidFill>
                  <a:srgbClr val="0B1117"/>
                </a:solidFill>
              </a:rPr>
              <a:t>anchor_only_soft_tps/anchor_only_tps_summary.json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4FE33-3B3C-41D5-A8EE-326605BF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单 pair 的 anchor-only residual TPS 摘要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FB27C-322D-4550-8928-AD1F2B39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3070"/>
            <a:ext cx="8229600" cy="66294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594A2-88D6-4816-AA69-F184D0DE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7924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117"/>
                </a:solidFill>
              </a:defRPr>
            </a:pPr>
            <a:r>
              <a:rPr sz="1200">
                <a:solidFill>
                  <a:srgbClr val="0B1117"/>
                </a:solidFill>
              </a:rPr>
              <a:t>anchor_only_soft_tps/anchor_only_tps_landmarks.csv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B454E-500E-483E-9404-3E8A90BD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6740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used_for_tps、landmark_kind、source/target/residual 坐标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C891F-9A5C-4E7D-8553-56706031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8410"/>
            <a:ext cx="8229600" cy="66294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16D65-DABB-4D1D-B33F-8F492034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38900"/>
            <a:ext cx="7924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117"/>
                </a:solidFill>
              </a:defRPr>
            </a:pPr>
            <a:r>
              <a:rPr sz="1200">
                <a:solidFill>
                  <a:srgbClr val="0B1117"/>
                </a:solidFill>
              </a:rPr>
              <a:t>anchor_only_soft_tps/anchor_only_soft_aligned_contours.geojson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8A6EF-7EE9-4E36-B0F3-2CCAE3FC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8655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soft 后 contour geometry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BB82C5-D01A-4D6F-BF24-97F36884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75460"/>
            <a:ext cx="8229600" cy="7322820"/>
          </a:xfrm>
          <a:prstGeom xmlns:a="http://schemas.openxmlformats.org/drawingml/2006/main" prst="roundRect">
            <a:avLst>
              <a:gd name="adj" fmla="val 15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A658D-CB32-426B-89DF-9B4DBAEA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91000"/>
            <a:ext cx="7581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212F"/>
                </a:solidFill>
              </a:defRPr>
            </a:pPr>
            <a:r>
              <a:rPr sz="2325" b="1">
                <a:solidFill>
                  <a:srgbClr val="12212F"/>
                </a:solidFill>
              </a:rPr>
              <a:t>Review HTML 需要回答的问题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73F2B4-D336-43EB-8C6E-5A9154CC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05350"/>
            <a:ext cx="758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1. 哪些 contour 是 active anchors？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C946A7-7826-43FE-BC5E-BD9A2237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124450"/>
            <a:ext cx="758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2. residual vectors 是否小且方向合理？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0264E-26DA-433F-9A60-378B8434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543550"/>
            <a:ext cx="758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3. passive/no-counterpart 是否没有被强迫闭合？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1F6BF7-2B6C-4C9F-966F-07642A4C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981700"/>
            <a:ext cx="758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4. negative Jacobian ratio 是否接近 0？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DAC61B-B850-40D3-9669-AFF4F3DB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00800"/>
            <a:ext cx="758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5. fallback 是证据不足，还是拓扑不安全？</a:t>
            </a:r>
          </a:p>
        </p:txBody>
      </p:sp>
      <p:sp>
        <p:nvSpPr>
          <p:cNvPr id="23" name="source-rail">
            <a:extLst xmlns:a="http://schemas.openxmlformats.org/drawingml/2006/main">
              <a:ext uri="{FF2B5EF4-FFF2-40B4-BE49-F238E27FC236}">
                <a16:creationId xmlns:a16="http://schemas.microsoft.com/office/drawing/2014/main" id="{794F33F6-A03E-4C6E-8505-64370FCC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46785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Local repo state and A100 validation logs, 2026-05-08.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40C1AC-D419-4206-A07A-1A9D3B03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372600"/>
            <a:ext cx="182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HistoSeg 3D alignment logic</a:t>
            </a:r>
          </a:p>
        </p:txBody>
      </p:sp>
    </p:spTree>
    <p:extLst>
      <p:ext uri="{BB962C8B-B14F-4D97-AF65-F5344CB8AC3E}">
        <p14:creationId xmlns:p14="http://schemas.microsoft.com/office/powerpoint/2010/main" val="11087762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8E2F7480-8067-4753-A106-32D0D9D5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D3A606-2AD1-46CA-98E7-5B22DE22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924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212F"/>
                </a:solidFill>
              </a:defRPr>
            </a:pPr>
            <a:r>
              <a:rPr sz="3900" b="1">
                <a:solidFill>
                  <a:srgbClr val="12212F"/>
                </a:solidFill>
              </a:rPr>
              <a:t>与 local-z orientation 的关系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3CDC756-6A93-480E-9FFD-C783CDB0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10458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36579"/>
                </a:solidFill>
              </a:defRPr>
            </a:pPr>
            <a:r>
              <a:rPr sz="1875">
                <a:solidFill>
                  <a:srgbClr val="536579"/>
                </a:solidFill>
              </a:rPr>
              <a:t>本升级改变的是 3D stack contour alignment 的 soft 阶段；transcript local-z correction 的坐标公式不变。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7BA82-C4BE-4A98-866E-7D67F7AF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5231638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4F5EA"/>
          </a:solidFill>
          <a:ln xmlns:a="http://schemas.openxmlformats.org/drawingml/2006/main" w="9525">
            <a:solidFill>
              <a:srgbClr val="1A7F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922A6-9A21-4FE0-B08F-FC856821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4781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A7F4B"/>
                </a:solidFill>
              </a:defRPr>
            </a:pPr>
            <a:r>
              <a:rPr sz="1875" b="1">
                <a:solidFill>
                  <a:srgbClr val="1A7F4B"/>
                </a:solidFill>
              </a:rPr>
              <a:t>Contour stack alignment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D6226-8A94-452A-9542-AACAA147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478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更可靠的 XY/contour 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9AB39-FD97-4042-93BF-2544F319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478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partial-anchor 语义保留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72FEB-9BB0-40B4-A6F4-4D6CAE99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81550"/>
            <a:ext cx="22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36579"/>
                </a:solidFill>
              </a:defRPr>
            </a:pPr>
            <a:r>
              <a:rPr sz="2250" b="1">
                <a:solidFill>
                  <a:srgbClr val="536579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CD179-37A7-48A0-9302-18D69F26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181" y="4133850"/>
            <a:ext cx="5231638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1E63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65F4C-E894-4F9E-9F7C-3F61011F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24350"/>
            <a:ext cx="4781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63B6"/>
                </a:solidFill>
              </a:defRPr>
            </a:pPr>
            <a:r>
              <a:rPr sz="1875" b="1">
                <a:solidFill>
                  <a:srgbClr val="1E63B6"/>
                </a:solidFill>
              </a:rPr>
              <a:t>Contour-aware local-z scoring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964D6-D68C-4717-9374-EE7E9BE5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478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按 aligned contour 建上下层 transcript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5D2E3-D435-4A09-841E-7414DDA0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91100"/>
            <a:ext cx="478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用相邻 contour continuity 判断 preserve/reverse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AC6A9-305F-4DD5-8409-C0789CAC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781550"/>
            <a:ext cx="22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36579"/>
                </a:solidFill>
              </a:defRPr>
            </a:pPr>
            <a:r>
              <a:rPr sz="2250" b="1">
                <a:solidFill>
                  <a:srgbClr val="536579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0D6546-B707-45A0-936C-1AB24329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2462" y="4133850"/>
            <a:ext cx="5231638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EE8FF"/>
          </a:solidFill>
          <a:ln xmlns:a="http://schemas.openxmlformats.org/drawingml/2006/main" w="9525">
            <a:solidFill>
              <a:srgbClr val="6E4B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009F4-15F4-45A8-BA7A-B87AFA3D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324350"/>
            <a:ext cx="4781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E4BB5"/>
                </a:solidFill>
              </a:defRPr>
            </a:pPr>
            <a:r>
              <a:rPr sz="1875" b="1">
                <a:solidFill>
                  <a:srgbClr val="6E4BB5"/>
                </a:solidFill>
              </a:rPr>
              <a:t>Transcript-only z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F7C4C-F37F-4CCC-81EA-71E2969F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705350"/>
            <a:ext cx="478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local_z_corrected_um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81CCB-F8CB-4771-BD30-E58BE08C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991100"/>
            <a:ext cx="4781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z_3d_um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349197-0113-4892-A36A-A755245C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42660"/>
            <a:ext cx="16840200" cy="693420"/>
          </a:xfrm>
          <a:prstGeom xmlns:a="http://schemas.openxmlformats.org/drawingml/2006/main" prst="roundRect">
            <a:avLst>
              <a:gd name="adj" fmla="val 16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558D17-DA6D-409C-81CB-0706EAEA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248400"/>
            <a:ext cx="16268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细胞/轮廓云输出不因为 transcript local-z flip 而改变；local-z 修正只作用于 transcript 层。Anchor-only TPS 让 local-z 的 contour 单元更接近真实切片物理状态。</a:t>
            </a:r>
          </a:p>
        </p:txBody>
      </p:sp>
      <p:sp>
        <p:nvSpPr>
          <p:cNvPr id="20" name="source-rail">
            <a:extLst xmlns:a="http://schemas.openxmlformats.org/drawingml/2006/main">
              <a:ext uri="{FF2B5EF4-FFF2-40B4-BE49-F238E27FC236}">
                <a16:creationId xmlns:a16="http://schemas.microsoft.com/office/drawing/2014/main" id="{B5B4F09D-7DEA-4D58-8A94-3C8F71E9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46785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Local repo state and A100 validation logs, 2026-05-08.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0F595C-96BD-4019-92B7-1F2C7E7E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372600"/>
            <a:ext cx="182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HistoSeg 3D alignment logic</a:t>
            </a:r>
          </a:p>
        </p:txBody>
      </p:sp>
    </p:spTree>
    <p:extLst>
      <p:ext uri="{BB962C8B-B14F-4D97-AF65-F5344CB8AC3E}">
        <p14:creationId xmlns:p14="http://schemas.microsoft.com/office/powerpoint/2010/main" val="137522225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8AB70A73-0395-45F3-A7AF-A4500900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1FD468-441C-488B-B349-2CBD637F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6197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212F"/>
                </a:solidFill>
              </a:defRPr>
            </a:pPr>
            <a:r>
              <a:rPr sz="3900" b="1">
                <a:solidFill>
                  <a:srgbClr val="12212F"/>
                </a:solidFill>
              </a:rPr>
              <a:t>A100 验证：已证明的部分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0370C64-B44D-4F2C-A8C1-4F502275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9715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36579"/>
                </a:solidFill>
              </a:defRPr>
            </a:pPr>
            <a:r>
              <a:rPr sz="1875">
                <a:solidFill>
                  <a:srgbClr val="536579"/>
                </a:solidFill>
              </a:rPr>
              <a:t>Pairwise smoke 和 full run 前几对显示 anchor-only residual TPS 能在真实 polyp pair 上安全接受。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E741F-33B8-40F7-8490-3DAF46F2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499100" cy="1363980"/>
          </a:xfrm>
          <a:prstGeom xmlns:a="http://schemas.openxmlformats.org/drawingml/2006/main" prst="roundRect">
            <a:avLst>
              <a:gd name="adj" fmla="val 8380"/>
            </a:avLst>
          </a:prstGeom>
          <a:solidFill xmlns:a="http://schemas.openxmlformats.org/drawingml/2006/main">
            <a:srgbClr val="E4F5EA"/>
          </a:solidFill>
          <a:ln xmlns:a="http://schemas.openxmlformats.org/drawingml/2006/main" w="9525">
            <a:solidFill>
              <a:srgbClr val="1A7F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64157-9568-4D57-A53B-E912A2C8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A7F4B"/>
                </a:solidFill>
              </a:defRPr>
            </a:pPr>
            <a:r>
              <a:rPr sz="1275" b="1">
                <a:solidFill>
                  <a:srgbClr val="1A7F4B"/>
                </a:solidFill>
              </a:rPr>
              <a:t>Smoke pair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9A0E0-0B69-4F3C-9940-4DBBA0F6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5086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12F"/>
                </a:solidFill>
              </a:defRPr>
            </a:pPr>
            <a:r>
              <a:rPr sz="3150" b="1">
                <a:solidFill>
                  <a:srgbClr val="12212F"/>
                </a:solidFill>
              </a:rPr>
              <a:t>accepted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20EB5-174E-42A5-9968-4A184BEF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8635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anchors=12, p90=0.0299, neg_jac=0.0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96E24-A37D-43A6-9941-BBE64AD7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4086225"/>
            <a:ext cx="5499100" cy="1363980"/>
          </a:xfrm>
          <a:prstGeom xmlns:a="http://schemas.openxmlformats.org/drawingml/2006/main" prst="roundRect">
            <a:avLst>
              <a:gd name="adj" fmla="val 838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1E63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269C0-FC39-4113-8A18-AD35CA4B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672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E63B6"/>
                </a:solidFill>
              </a:defRPr>
            </a:pPr>
            <a:r>
              <a:rPr sz="1275" b="1">
                <a:solidFill>
                  <a:srgbClr val="1E63B6"/>
                </a:solidFill>
              </a:rPr>
              <a:t>Wall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DCA1E-0C2E-4320-A83B-98B342B1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33900"/>
            <a:ext cx="5086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12F"/>
                </a:solidFill>
              </a:defRPr>
            </a:pPr>
            <a:r>
              <a:rPr sz="3150" b="1">
                <a:solidFill>
                  <a:srgbClr val="12212F"/>
                </a:solidFill>
              </a:rPr>
              <a:t>17.52s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CAB78-BAC3-477B-B99F-70D617C5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8635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smoke pair runtime, max RSS 397 MB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C8B05-BE9A-402E-AA8C-6C02B2C9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4086225"/>
            <a:ext cx="5499100" cy="1363980"/>
          </a:xfrm>
          <a:prstGeom xmlns:a="http://schemas.openxmlformats.org/drawingml/2006/main" prst="roundRect">
            <a:avLst>
              <a:gd name="adj" fmla="val 8380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9525">
            <a:solidFill>
              <a:srgbClr val="0F8C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0701E-0A8A-4AFC-8E55-63E72315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26720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8C79"/>
                </a:solidFill>
              </a:defRPr>
            </a:pPr>
            <a:r>
              <a:rPr sz="1275" b="1">
                <a:solidFill>
                  <a:srgbClr val="0F8C79"/>
                </a:solidFill>
              </a:rPr>
              <a:t>Topology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12F0B-9223-4C20-A74A-BB6585CA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533900"/>
            <a:ext cx="5086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12F"/>
                </a:solidFill>
              </a:defRPr>
            </a:pPr>
            <a:r>
              <a:rPr sz="3150" b="1">
                <a:solidFill>
                  <a:srgbClr val="12212F"/>
                </a:solidFill>
              </a:rPr>
              <a:t>0.0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D1CAB-F7F3-45BF-B20C-30288DF5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086350"/>
            <a:ext cx="5086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negative Jacobian ratio on smoke</a:t>
            </a:r>
          </a:p>
        </p:txBody>
      </p:sp>
      <p:sp>
        <p:nvSpPr>
          <p:cNvPr id="16" name="a100-table-header">
            <a:extLst xmlns:a="http://schemas.openxmlformats.org/drawingml/2006/main">
              <a:ext uri="{FF2B5EF4-FFF2-40B4-BE49-F238E27FC236}">
                <a16:creationId xmlns:a16="http://schemas.microsoft.com/office/drawing/2014/main" id="{615E2088-2CF4-45A8-AEA8-6F25163F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7855"/>
            <a:ext cx="3691467" cy="354330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12212F"/>
          </a:solidFill>
          <a:ln xmlns:a="http://schemas.openxmlformats.org/drawingml/2006/main" w="9525">
            <a:solidFill>
              <a:srgbClr val="1221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7EE83-5479-48EE-9D36-A763D9A0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3505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Real pair</a:t>
            </a:r>
          </a:p>
        </p:txBody>
      </p:sp>
      <p:sp>
        <p:nvSpPr>
          <p:cNvPr id="18" name="a100-table-header">
            <a:extLst xmlns:a="http://schemas.openxmlformats.org/drawingml/2006/main">
              <a:ext uri="{FF2B5EF4-FFF2-40B4-BE49-F238E27FC236}">
                <a16:creationId xmlns:a16="http://schemas.microsoft.com/office/drawing/2014/main" id="{DC166D6E-BD8A-4837-A9A3-41B0EB89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517" y="5697855"/>
            <a:ext cx="2399453" cy="354330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12212F"/>
          </a:solidFill>
          <a:ln xmlns:a="http://schemas.openxmlformats.org/drawingml/2006/main" w="9525">
            <a:solidFill>
              <a:srgbClr val="1221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45EFF3-5ADB-4344-BD73-93EC4B7B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791200"/>
            <a:ext cx="2209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Anchors</a:t>
            </a:r>
          </a:p>
        </p:txBody>
      </p:sp>
      <p:sp>
        <p:nvSpPr>
          <p:cNvPr id="20" name="a100-table-header">
            <a:extLst xmlns:a="http://schemas.openxmlformats.org/drawingml/2006/main">
              <a:ext uri="{FF2B5EF4-FFF2-40B4-BE49-F238E27FC236}">
                <a16:creationId xmlns:a16="http://schemas.microsoft.com/office/drawing/2014/main" id="{81EA3E0C-48AA-4E3D-B60C-9E6D034C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120" y="5697855"/>
            <a:ext cx="3876040" cy="354330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12212F"/>
          </a:solidFill>
          <a:ln xmlns:a="http://schemas.openxmlformats.org/drawingml/2006/main" w="9525">
            <a:solidFill>
              <a:srgbClr val="1221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03EEE-07A4-45D6-9E33-34A6DCB4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791200"/>
            <a:ext cx="3676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Post p90 residual</a:t>
            </a:r>
          </a:p>
        </p:txBody>
      </p:sp>
      <p:sp>
        <p:nvSpPr>
          <p:cNvPr id="22" name="a100-table-header">
            <a:extLst xmlns:a="http://schemas.openxmlformats.org/drawingml/2006/main">
              <a:ext uri="{FF2B5EF4-FFF2-40B4-BE49-F238E27FC236}">
                <a16:creationId xmlns:a16="http://schemas.microsoft.com/office/drawing/2014/main" id="{C8B1B134-DF0D-4FAA-87BF-B667C6E9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2310" y="5697855"/>
            <a:ext cx="3876040" cy="354330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12212F"/>
          </a:solidFill>
          <a:ln xmlns:a="http://schemas.openxmlformats.org/drawingml/2006/main" w="9525">
            <a:solidFill>
              <a:srgbClr val="12212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65BB38-92F8-4C13-B956-0997EE14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791200"/>
            <a:ext cx="3676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Negative Jacobian</a:t>
            </a:r>
          </a:p>
        </p:txBody>
      </p:sp>
      <p:sp>
        <p:nvSpPr>
          <p:cNvPr id="24" name="a100-table-header">
            <a:extLst xmlns:a="http://schemas.openxmlformats.org/drawingml/2006/main">
              <a:ext uri="{FF2B5EF4-FFF2-40B4-BE49-F238E27FC236}">
                <a16:creationId xmlns:a16="http://schemas.microsoft.com/office/drawing/2014/main" id="{77D49E27-F117-40A2-9F75-430C92EE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5500" y="5697855"/>
            <a:ext cx="2768600" cy="354330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12212F"/>
          </a:solidFill>
          <a:ln xmlns:a="http://schemas.openxmlformats.org/drawingml/2006/main" w="9525">
            <a:solidFill>
              <a:srgbClr val="1221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D4DEC5-90FF-42B7-A73F-F4DD82A5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5791200"/>
            <a:ext cx="2571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Soft IoU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C65A67-92B6-4A44-84B9-7E684D03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09335"/>
            <a:ext cx="3691467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A76BB5-8A77-4E08-8E5B-4D829489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0"/>
            <a:ext cx="350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001_to_002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F99FE1-0A5D-42EC-BC70-5DE307BE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517" y="6109335"/>
            <a:ext cx="2399453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A1AB8B-BCBE-4F61-89D8-1A6B1264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191250"/>
            <a:ext cx="220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22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0A1F3A-6F53-489B-90F2-73186669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120" y="6109335"/>
            <a:ext cx="3876040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507388-E2AF-4423-AB47-A333BE51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191250"/>
            <a:ext cx="3676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28.7897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9FB38E-B300-417D-84AE-5997E03F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2310" y="6109335"/>
            <a:ext cx="3876040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3F1A76-100B-4339-B9A9-5AF867C6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3676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0.000416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6912BA-7735-45E4-B944-D3E6E3CC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5500" y="6109335"/>
            <a:ext cx="2768600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0D13B3-52F2-4460-8834-EFC40AE0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6191250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0.725883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D81027-BE37-4928-AEE0-6E5C1C29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13195"/>
            <a:ext cx="3691467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723725-8794-4BFF-9E90-E01888B0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91300"/>
            <a:ext cx="350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002_to_003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09B4D3-A4D9-4ADE-AFEC-FE350696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517" y="6513195"/>
            <a:ext cx="2399453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27D57A-B136-4D6D-862F-CEF8C5AA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591300"/>
            <a:ext cx="220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82A91D-81F1-4FFF-B33D-0F674DD0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120" y="6513195"/>
            <a:ext cx="3876040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8E1223-1A91-4A42-99A2-9C94B456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591300"/>
            <a:ext cx="3676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39.3646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7A0EBA-7E54-406E-882A-EF4FA75C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2310" y="6513195"/>
            <a:ext cx="3876040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A02726-525E-4DFA-BC8E-64EDCD72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91300"/>
            <a:ext cx="3676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527D16-7715-4F8F-A397-8D83FC4A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5500" y="6513195"/>
            <a:ext cx="2768600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A7E84C-8CF9-4773-80F2-F8FE762E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6591300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0.710260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9DF9CF-0A6A-4B66-9D74-0EA72B87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17055"/>
            <a:ext cx="3691467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C62080-0DB7-4587-B68D-59F56E3F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991350"/>
            <a:ext cx="350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003_to_004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9BAB4C-B99D-473E-81C3-E5EE1B3A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517" y="6917055"/>
            <a:ext cx="2399453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8FA224-1E20-4565-B9E4-7D7C3218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991350"/>
            <a:ext cx="220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21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98A3C0-657A-4858-ABF1-DBD0F0FF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120" y="6917055"/>
            <a:ext cx="3876040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049466-6302-4129-8673-80C68491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991350"/>
            <a:ext cx="3676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36.8260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05FF3A-052E-4114-AAA5-BF3EE63C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2310" y="6917055"/>
            <a:ext cx="3876040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6149A5-3226-4506-8CA2-0F45B7B5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991350"/>
            <a:ext cx="3676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0.000416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8AEFBE-C534-4A09-95FB-743277DE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5500" y="6917055"/>
            <a:ext cx="2768600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AD4CD83-617E-4A9D-99DA-6E28EE44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6991350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0.676023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1672D6-D611-41DC-A5AE-155BC92F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20915"/>
            <a:ext cx="3691467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E253368-7E35-4C52-A9EB-13A8E6D6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91400"/>
            <a:ext cx="350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004_to_005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5EF79BC-7A4B-4D93-9B94-377CF407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517" y="7320915"/>
            <a:ext cx="2399453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24FFFCB-51CE-4DF4-8B84-9052FCE5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391400"/>
            <a:ext cx="220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16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7FA12E-B4ED-4DFB-9136-64F9EC9C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9120" y="7320915"/>
            <a:ext cx="3876040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D26807-3CA3-4B0B-8034-46FDFD42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391400"/>
            <a:ext cx="3676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88.9183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46FE7E0-5C02-4F12-993F-FA978ACA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2310" y="7320915"/>
            <a:ext cx="3876040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D9DD3D-47E5-4C7F-89E5-640660B1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391400"/>
            <a:ext cx="3676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0.000416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5F73E31-10A1-4490-B3EF-DF3A1D2D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5500" y="7320915"/>
            <a:ext cx="2768600" cy="346710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223840B-6C26-4D13-B0DC-6FD5CC54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7391400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0.780452</a:t>
            </a:r>
          </a:p>
        </p:txBody>
      </p:sp>
      <p:sp>
        <p:nvSpPr>
          <p:cNvPr id="66" name="source-rail">
            <a:extLst xmlns:a="http://schemas.openxmlformats.org/drawingml/2006/main">
              <a:ext uri="{FF2B5EF4-FFF2-40B4-BE49-F238E27FC236}">
                <a16:creationId xmlns:a16="http://schemas.microsoft.com/office/drawing/2014/main" id="{5D25F66D-9992-44F0-BD7E-9BEA7C7A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467850"/>
            <a:ext cx="7467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A100 run root: /data/taobo.hu/projects/histoseg_polyp_xeniumslide/a100_anchor_only_residual_tps_20260508.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0C8850C-A887-4FA1-9E43-568E972B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372600"/>
            <a:ext cx="182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HistoSeg 3D alignment logic</a:t>
            </a:r>
          </a:p>
        </p:txBody>
      </p:sp>
    </p:spTree>
    <p:extLst>
      <p:ext uri="{BB962C8B-B14F-4D97-AF65-F5344CB8AC3E}">
        <p14:creationId xmlns:p14="http://schemas.microsoft.com/office/powerpoint/2010/main" val="25885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28D6418B-DC4C-4A8C-8082-4787C660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0173B3-5B28-4754-9296-56BBC629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58483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212F"/>
                </a:solidFill>
              </a:defRPr>
            </a:pPr>
            <a:r>
              <a:rPr sz="3900" b="1">
                <a:solidFill>
                  <a:srgbClr val="12212F"/>
                </a:solidFill>
              </a:rPr>
              <a:t>A100 full 32 run 的当前边界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AA03B25-F033-44BC-9F5D-E9E5AE62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2744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36579"/>
                </a:solidFill>
              </a:defRPr>
            </a:pPr>
            <a:r>
              <a:rPr sz="1875">
                <a:solidFill>
                  <a:srgbClr val="536579"/>
                </a:solidFill>
              </a:rPr>
              <a:t>截至 2026-05-08，full 32 run 不是因为 anchor-only TPS 失败，而是在后续 contour generation 的 cluster normalization 上停止。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49F57-2777-4D3E-A88E-CCD8DEA8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9820"/>
            <a:ext cx="8631079" cy="6728460"/>
          </a:xfrm>
          <a:prstGeom xmlns:a="http://schemas.openxmlformats.org/drawingml/2006/main" prst="roundRect">
            <a:avLst>
              <a:gd name="adj" fmla="val 1699"/>
            </a:avLst>
          </a:prstGeom>
          <a:solidFill xmlns:a="http://schemas.openxmlformats.org/drawingml/2006/main">
            <a:srgbClr val="FBE5E5"/>
          </a:solidFill>
          <a:ln xmlns:a="http://schemas.openxmlformats.org/drawingml/2006/main" w="9525">
            <a:solidFill>
              <a:srgbClr val="B640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CFB28-C724-47D1-9323-641D8EBD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798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212F"/>
                </a:solidFill>
              </a:defRPr>
            </a:pPr>
            <a:r>
              <a:rPr sz="2325" b="1">
                <a:solidFill>
                  <a:srgbClr val="12212F"/>
                </a:solidFill>
              </a:rPr>
              <a:t>失败点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C0358-C745-4F86-B3D7-34D308F8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7981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4040"/>
                </a:solidFill>
              </a:defRPr>
            </a:pPr>
            <a:r>
              <a:rPr sz="2100" b="1">
                <a:solidFill>
                  <a:srgbClr val="B64040"/>
                </a:solidFill>
              </a:rPr>
              <a:t>slice 6 contour generation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6144F-FCE0-41AA-8720-AF27CC2F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67400"/>
            <a:ext cx="798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117"/>
                </a:solidFill>
              </a:defRPr>
            </a:pPr>
            <a:r>
              <a:rPr sz="1200">
                <a:solidFill>
                  <a:srgbClr val="0B1117"/>
                </a:solidFill>
              </a:rPr>
              <a:t>ValueError: requested structures could not be matched after cluster normalization: Structure 1, Structure 2, Structure 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096AF-E845-49C8-9981-BC6C464D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29350"/>
            <a:ext cx="798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D8E1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3DDA8-F262-4802-A186-C079347D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19850"/>
            <a:ext cx="7981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wall time 28:24.75, max RSS 4,892,640 KB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BCC2B-DD3D-486A-9186-B86E384D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667250"/>
            <a:ext cx="781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212F"/>
                </a:solidFill>
              </a:defRPr>
            </a:pPr>
            <a:r>
              <a:rPr sz="2325" b="1">
                <a:solidFill>
                  <a:srgbClr val="12212F"/>
                </a:solidFill>
              </a:rPr>
              <a:t>解释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33A05-004B-43A1-A405-A954AC18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19700"/>
            <a:ext cx="7810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这说明新的 soft alignment 可以进入真实数据并写出前几对 accepted metrics，但完整 32 张验证还需要修复或绕过 contour materialization 的 structure normalization 不一致。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34F07-8B1F-436E-AF2A-B8AAA74D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267450"/>
            <a:ext cx="7810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下一步应把 cluster/structure normalization 与 aligned contour reuse 逻辑修好，再重复 full run 并更新 issue #9 与 RTD。</a:t>
            </a:r>
          </a:p>
        </p:txBody>
      </p:sp>
      <p:sp>
        <p:nvSpPr>
          <p:cNvPr id="13" name="source-rail">
            <a:extLst xmlns:a="http://schemas.openxmlformats.org/drawingml/2006/main">
              <a:ext uri="{FF2B5EF4-FFF2-40B4-BE49-F238E27FC236}">
                <a16:creationId xmlns:a16="http://schemas.microsoft.com/office/drawing/2014/main" id="{BA8A9983-37BB-4880-B97E-B4C41CF7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46785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Local repo state and A100 validation logs, 2026-05-08.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66667-ACC8-49EA-B1E0-F11798D4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372600"/>
            <a:ext cx="182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HistoSeg 3D alignment logic</a:t>
            </a:r>
          </a:p>
        </p:txBody>
      </p:sp>
    </p:spTree>
    <p:extLst>
      <p:ext uri="{BB962C8B-B14F-4D97-AF65-F5344CB8AC3E}">
        <p14:creationId xmlns:p14="http://schemas.microsoft.com/office/powerpoint/2010/main" val="8273507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BBC203E5-4D93-4B7C-B968-12CF040E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DE5862-5D98-4503-B3E8-0D96A296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4457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212F"/>
                </a:solidFill>
              </a:defRPr>
            </a:pPr>
            <a:r>
              <a:rPr sz="3900" b="1">
                <a:solidFill>
                  <a:srgbClr val="12212F"/>
                </a:solidFill>
              </a:rPr>
              <a:t>代码层面的主要落点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9D86BA3-7728-4117-BF7E-847E8FF5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8343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36579"/>
                </a:solidFill>
              </a:defRPr>
            </a:pPr>
            <a:r>
              <a:rPr sz="1875">
                <a:solidFill>
                  <a:srgbClr val="536579"/>
                </a:solidFill>
              </a:rPr>
              <a:t>算法升级不是一个孤立函数，而是贯穿配置、调度、拟合、验收、输出和文档。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06FBB-EC1D-4A55-807A-2CBEE850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2390"/>
            <a:ext cx="8229600" cy="66294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DC5CC-D7A3-4D36-B5BA-25346B64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7924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117"/>
                </a:solidFill>
              </a:defRPr>
            </a:pPr>
            <a:r>
              <a:rPr sz="1200">
                <a:solidFill>
                  <a:srgbClr val="0B1117"/>
                </a:solidFill>
              </a:rPr>
              <a:t>src/histoseg/threed/multislice.py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06DBF-8C4A-4997-B010-EA9FC12E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CLI/config 接入；auto 解析；pairwise metrics；semantic/anchor-only 调度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C3E27-7567-4C30-9DFB-66143C20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7730"/>
            <a:ext cx="8229600" cy="66294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D81A8-8399-4EF0-B03F-97AC2049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7924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117"/>
                </a:solidFill>
              </a:defRPr>
            </a:pPr>
            <a:r>
              <a:rPr sz="1200">
                <a:solidFill>
                  <a:srgbClr val="0B1117"/>
                </a:solidFill>
              </a:rPr>
              <a:t>src/histoseg/threed/label_free_alignment.py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7C32F-2F09-4EAB-88A6-5C2C3E05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partial-anchor matching；anchor-only residual TPS；identity padding；Jacobian QC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81AD6-07FF-4076-BA1B-2C086C56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3070"/>
            <a:ext cx="8229600" cy="66294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2E905-3005-4A0A-A426-806EF2D9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7924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117"/>
                </a:solidFill>
              </a:defRPr>
            </a:pPr>
            <a:r>
              <a:rPr sz="1200">
                <a:solidFill>
                  <a:srgbClr val="0B1117"/>
                </a:solidFill>
              </a:rPr>
              <a:t>tests/test_threed_multislice.py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1F4DD-16CB-4A4F-9848-5019DD7F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6740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auto mode、CLI、fallback、synthetic tearing regression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E4056-7410-4A85-B6F7-AE729AA4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8410"/>
            <a:ext cx="8229600" cy="66294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46BD8-FC83-45B3-B520-83B7AB1A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38900"/>
            <a:ext cx="7924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117"/>
                </a:solidFill>
              </a:defRPr>
            </a:pPr>
            <a:r>
              <a:rPr sz="1200">
                <a:solidFill>
                  <a:srgbClr val="0B1117"/>
                </a:solidFill>
              </a:rPr>
              <a:t>docs/3d_analysis.md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5687C-5ADE-440B-A310-5BB379ED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86550"/>
            <a:ext cx="7924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方法说明、QC 指标、解释原则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EB27D-EC18-4B8A-9D36-7EE8A5CA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75460"/>
            <a:ext cx="8229600" cy="7322820"/>
          </a:xfrm>
          <a:prstGeom xmlns:a="http://schemas.openxmlformats.org/drawingml/2006/main" prst="roundRect">
            <a:avLst>
              <a:gd name="adj" fmla="val 15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F9DFF1-B94B-4704-B021-44F93246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362450"/>
            <a:ext cx="7581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212F"/>
                </a:solidFill>
              </a:defRPr>
            </a:pPr>
            <a:r>
              <a:rPr sz="2325" b="1">
                <a:solidFill>
                  <a:srgbClr val="12212F"/>
                </a:solidFill>
              </a:rPr>
              <a:t>GitHub provenance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9A8824-7506-462B-B6F4-BADB240F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895850"/>
            <a:ext cx="758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Issue: hutaobo/HistoSeg#9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59BD68-4162-46C6-ABB0-A560835E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334000"/>
            <a:ext cx="758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Commit: Add anchor-only residual TPS alignment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D7F345-5945-48FA-8E47-E3E44B6A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791200"/>
            <a:ext cx="758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Commit: Document anchor-only residual TPS upgrade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70020A-4548-4DBB-8EBB-7326D2EA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229350"/>
            <a:ext cx="758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A100 result comment records smoke success and full-run blocker.</a:t>
            </a:r>
          </a:p>
        </p:txBody>
      </p:sp>
      <p:sp>
        <p:nvSpPr>
          <p:cNvPr id="22" name="source-rail">
            <a:extLst xmlns:a="http://schemas.openxmlformats.org/drawingml/2006/main">
              <a:ext uri="{FF2B5EF4-FFF2-40B4-BE49-F238E27FC236}">
                <a16:creationId xmlns:a16="http://schemas.microsoft.com/office/drawing/2014/main" id="{B1CF481B-A765-40B1-B1B8-74A781E3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46785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Local repo state and A100 validation logs, 2026-05-08.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5E587B-0DDB-4564-B708-6EAE80C6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372600"/>
            <a:ext cx="182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HistoSeg 3D alignment logic</a:t>
            </a:r>
          </a:p>
        </p:txBody>
      </p:sp>
    </p:spTree>
    <p:extLst>
      <p:ext uri="{BB962C8B-B14F-4D97-AF65-F5344CB8AC3E}">
        <p14:creationId xmlns:p14="http://schemas.microsoft.com/office/powerpoint/2010/main" val="162410614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C7D3A06F-21AA-4B69-B305-7DBE352B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4DF9C2-739C-460C-B43C-7F60C628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6934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212F"/>
                </a:solidFill>
              </a:defRPr>
            </a:pPr>
            <a:r>
              <a:rPr sz="3900" b="1">
                <a:solidFill>
                  <a:srgbClr val="12212F"/>
                </a:solidFill>
              </a:rPr>
              <a:t>结论：之前的矛盾是否解决了？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FCDF52F-EFD3-45FE-B5CD-8512D30E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9925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36579"/>
                </a:solidFill>
              </a:defRPr>
            </a:pPr>
            <a:r>
              <a:rPr sz="1875">
                <a:solidFill>
                  <a:srgbClr val="536579"/>
                </a:solidFill>
              </a:rPr>
              <a:t>控制流层面已经解决；完整 32 张生产验证还有一个 contour generation 输入一致性问题待处理。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B4EE1-A192-4504-8D3E-90875DA3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9545"/>
            <a:ext cx="8286750" cy="144018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9525">
            <a:solidFill>
              <a:srgbClr val="1A7F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4856D-2EEC-4559-90EC-7CA1C926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A7F4B"/>
                </a:solidFill>
              </a:defRPr>
            </a:pPr>
            <a:r>
              <a:rPr sz="2100" b="1">
                <a:solidFill>
                  <a:srgbClr val="1A7F4B"/>
                </a:solidFill>
              </a:rPr>
              <a:t>已解决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7FB2C-FE5E-4432-A058-C0797250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7753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auto + label-free-group 不再回退到 semantic soft TPS。Soft 变形只由 active anchors 拟合 residual field；passive/no-counterpart 不产生拉力。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ED0C0-78EB-46DC-9E6D-00D0C781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79545"/>
            <a:ext cx="8286750" cy="144018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9525">
            <a:solidFill>
              <a:srgbClr val="B46A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92483-723E-43EA-B69F-55BE8F42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100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6A00"/>
                </a:solidFill>
              </a:defRPr>
            </a:pPr>
            <a:r>
              <a:rPr sz="2100" b="1">
                <a:solidFill>
                  <a:srgbClr val="B46A00"/>
                </a:solidFill>
              </a:rPr>
              <a:t>仍需收尾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6DE46-4FEE-4CF9-A652-9433E159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648200"/>
            <a:ext cx="77533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full 32 run 在 slice 6 的 structure normalization 阶段失败。它不否定 anchor-only TPS，但阻止了完整生产级统计。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4E83F-CB54-4B80-9A59-01504171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05475"/>
            <a:ext cx="16840200" cy="1474470"/>
          </a:xfrm>
          <a:prstGeom xmlns:a="http://schemas.openxmlformats.org/drawingml/2006/main" prst="roundRect">
            <a:avLst>
              <a:gd name="adj" fmla="val 77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4B721-983D-4965-A8D5-C97DF066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43600"/>
            <a:ext cx="16268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212F"/>
                </a:solidFill>
              </a:defRPr>
            </a:pPr>
            <a:r>
              <a:rPr sz="2325" b="1">
                <a:solidFill>
                  <a:srgbClr val="12212F"/>
                </a:solidFill>
              </a:rPr>
              <a:t>当前可防守的表述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F2737-076A-4BB3-857B-21FA4FFC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400800"/>
            <a:ext cx="16268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2212F"/>
                </a:solidFill>
              </a:defRPr>
            </a:pPr>
            <a:r>
              <a:rPr sz="1800">
                <a:solidFill>
                  <a:srgbClr val="12212F"/>
                </a:solidFill>
              </a:rPr>
              <a:t>HistoSeg 已完成从 semantic boundary attraction 到 evidence-first residual TPS 的算法转换；真实 polyp pair 的 smoke/partial validation 通过，full-stack validation 正在被一个下游 contour materialization issue 阻塞。</a:t>
            </a:r>
          </a:p>
        </p:txBody>
      </p:sp>
      <p:sp>
        <p:nvSpPr>
          <p:cNvPr id="13" name="source-rail">
            <a:extLst xmlns:a="http://schemas.openxmlformats.org/drawingml/2006/main">
              <a:ext uri="{FF2B5EF4-FFF2-40B4-BE49-F238E27FC236}">
                <a16:creationId xmlns:a16="http://schemas.microsoft.com/office/drawing/2014/main" id="{037F5912-8DB0-446A-81E9-5480B7C5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467850"/>
            <a:ext cx="3543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Local repo state and A100 validation logs, 2026-05-08.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9E2E8-49C0-478F-86D5-2EA9DFD8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9372600"/>
            <a:ext cx="1828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579"/>
                </a:solidFill>
              </a:defRPr>
            </a:pPr>
            <a:r>
              <a:rPr sz="1275">
                <a:solidFill>
                  <a:srgbClr val="536579"/>
                </a:solidFill>
              </a:rPr>
              <a:t>HistoSeg 3D alignment logic</a:t>
            </a:r>
          </a:p>
        </p:txBody>
      </p:sp>
    </p:spTree>
    <p:extLst>
      <p:ext uri="{BB962C8B-B14F-4D97-AF65-F5344CB8AC3E}">
        <p14:creationId xmlns:p14="http://schemas.microsoft.com/office/powerpoint/2010/main" val="14488734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2026-05-08T15:37:19.2690000Z</dcterms:created>
  <dcterms:modified xsi:type="dcterms:W3CDTF">2026-05-08T15:37:19.2690000Z</dcterms:modified>
</coreProperties>
</file>