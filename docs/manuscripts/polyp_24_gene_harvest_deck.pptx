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753abc1d349c0" /><Relationship Type="http://schemas.openxmlformats.org/officeDocument/2006/relationships/extended-properties" Target="/docProps/app.xml" Id="Rac65f0e2182b4d12" /><Relationship Type="http://schemas.openxmlformats.org/officeDocument/2006/relationships/officeDocument" Target="/ppt/presentation.xml" Id="Rac2dcc8e83574e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011314213e4d01"/>
  </p:sldMasterIdLst>
  <p:notesMasterIdLst>
    <p:notesMasterId xmlns:r="http://schemas.openxmlformats.org/officeDocument/2006/relationships" r:id="R9e6fffeb12bb4d7e"/>
  </p:notesMasterIdLst>
  <p:sldIdLst>
    <p:sldId xmlns:r="http://schemas.openxmlformats.org/officeDocument/2006/relationships" id="256" r:id="Radcd729e384f406c"/>
    <p:sldId xmlns:r="http://schemas.openxmlformats.org/officeDocument/2006/relationships" id="257" r:id="Rda3477282877412a"/>
    <p:sldId xmlns:r="http://schemas.openxmlformats.org/officeDocument/2006/relationships" id="258" r:id="R6cb4085fa4c44829"/>
    <p:sldId xmlns:r="http://schemas.openxmlformats.org/officeDocument/2006/relationships" id="259" r:id="Rf87a45124c6a4fea"/>
    <p:sldId xmlns:r="http://schemas.openxmlformats.org/officeDocument/2006/relationships" id="260" r:id="R6cf3cd0b0e8441b8"/>
    <p:sldId xmlns:r="http://schemas.openxmlformats.org/officeDocument/2006/relationships" id="261" r:id="R98230057fb214c00"/>
    <p:sldId xmlns:r="http://schemas.openxmlformats.org/officeDocument/2006/relationships" id="262" r:id="Ra67f3bff09674dbe"/>
    <p:sldId xmlns:r="http://schemas.openxmlformats.org/officeDocument/2006/relationships" id="263" r:id="Rc7f93b242ae14f22"/>
    <p:sldId xmlns:r="http://schemas.openxmlformats.org/officeDocument/2006/relationships" id="264" r:id="R86b11dd65bff4ad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011314213e4d01" /><Relationship Type="http://schemas.openxmlformats.org/officeDocument/2006/relationships/theme" Target="/ppt/theme/theme1.xml" Id="R9047b452b3244a8e" /><Relationship Type="http://schemas.openxmlformats.org/officeDocument/2006/relationships/notesMaster" Target="/ppt/notesMasters/notesMaster1.xml" Id="R9e6fffeb12bb4d7e" /><Relationship Type="http://schemas.openxmlformats.org/officeDocument/2006/relationships/presProps" Target="/ppt/presProps.xml" Id="R082e8e4e59264639" /><Relationship Type="http://schemas.openxmlformats.org/officeDocument/2006/relationships/viewProps" Target="/ppt/viewProps.xml" Id="Rf642320edbc44a73" /><Relationship Type="http://schemas.openxmlformats.org/officeDocument/2006/relationships/tableStyles" Target="/ppt/tableStyles.xml" Id="R5bbeecb2c7244dab" /><Relationship Type="http://schemas.openxmlformats.org/officeDocument/2006/relationships/slide" Target="/ppt/slides/slide1.xml" Id="Radcd729e384f406c" /><Relationship Type="http://schemas.openxmlformats.org/officeDocument/2006/relationships/slide" Target="/ppt/slides/slide2.xml" Id="Rda3477282877412a" /><Relationship Type="http://schemas.openxmlformats.org/officeDocument/2006/relationships/slide" Target="/ppt/slides/slide3.xml" Id="R6cb4085fa4c44829" /><Relationship Type="http://schemas.openxmlformats.org/officeDocument/2006/relationships/slide" Target="/ppt/slides/slide4.xml" Id="Rf87a45124c6a4fea" /><Relationship Type="http://schemas.openxmlformats.org/officeDocument/2006/relationships/slide" Target="/ppt/slides/slide5.xml" Id="R6cf3cd0b0e8441b8" /><Relationship Type="http://schemas.openxmlformats.org/officeDocument/2006/relationships/slide" Target="/ppt/slides/slide6.xml" Id="R98230057fb214c00" /><Relationship Type="http://schemas.openxmlformats.org/officeDocument/2006/relationships/slide" Target="/ppt/slides/slide7.xml" Id="Ra67f3bff09674dbe" /><Relationship Type="http://schemas.openxmlformats.org/officeDocument/2006/relationships/slide" Target="/ppt/slides/slide8.xml" Id="Rc7f93b242ae14f22" /><Relationship Type="http://schemas.openxmlformats.org/officeDocument/2006/relationships/slide" Target="/ppt/slides/slide9.xml" Id="R86b11dd65bff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3bb3cf8e8a54a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fed160a834032" /><Relationship Type="http://schemas.openxmlformats.org/officeDocument/2006/relationships/notesMaster" Target="/ppt/notesMasters/notesMaster1.xml" Id="R65338c3ea6254f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93f58591cb4d9e" /><Relationship Type="http://schemas.openxmlformats.org/officeDocument/2006/relationships/notesMaster" Target="/ppt/notesMasters/notesMaster1.xml" Id="R28f029d8107b4a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8fe5ee85364d3a" /><Relationship Type="http://schemas.openxmlformats.org/officeDocument/2006/relationships/notesMaster" Target="/ppt/notesMasters/notesMaster1.xml" Id="R63e6f16bc05043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22bc908d7140f3" /><Relationship Type="http://schemas.openxmlformats.org/officeDocument/2006/relationships/notesMaster" Target="/ppt/notesMasters/notesMaster1.xml" Id="Raa6ddd5c1f7c4b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b8d0bebe0b4a38" /><Relationship Type="http://schemas.openxmlformats.org/officeDocument/2006/relationships/notesMaster" Target="/ppt/notesMasters/notesMaster1.xml" Id="R769b3734e37040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6bda711442404d" /><Relationship Type="http://schemas.openxmlformats.org/officeDocument/2006/relationships/notesMaster" Target="/ppt/notesMasters/notesMaster1.xml" Id="Rf62bf2b65e3b4d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26ea362a6148ab" /><Relationship Type="http://schemas.openxmlformats.org/officeDocument/2006/relationships/notesMaster" Target="/ppt/notesMasters/notesMaster1.xml" Id="R5ff621124c644e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a093964bf747ad" /><Relationship Type="http://schemas.openxmlformats.org/officeDocument/2006/relationships/notesMaster" Target="/ppt/notesMasters/notesMaster1.xml" Id="R1d74ee0b23134d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00e2d0303d4b38" /><Relationship Type="http://schemas.openxmlformats.org/officeDocument/2006/relationships/notesMaster" Target="/ppt/notesMasters/notesMaster1.xml" Id="Ree1e13538af747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9d6faba1242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971799015cc49ba" /><Relationship Type="http://schemas.openxmlformats.org/officeDocument/2006/relationships/slideLayout" Target="/ppt/slideLayouts/slideLayout2.xml" Id="R89f412dad70649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412dad70649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78912df38b49d8" /><Relationship Type="http://schemas.openxmlformats.org/officeDocument/2006/relationships/image" Target="/ppt/media/image.png" Id="R2b9e5100dde144bf" /><Relationship Type="http://schemas.openxmlformats.org/officeDocument/2006/relationships/notesSlide" Target="/ppt/notesSlides/notesSlide1.xml" Id="R59f6b366d3cd40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6af7eea3df4954" /><Relationship Type="http://schemas.openxmlformats.org/officeDocument/2006/relationships/image" Target="/ppt/media/image2.png" Id="Rcd44b22b0e784092" /><Relationship Type="http://schemas.openxmlformats.org/officeDocument/2006/relationships/notesSlide" Target="/ppt/notesSlides/notesSlide2.xml" Id="Rfbf381faac20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c3c3f280df414a" /><Relationship Type="http://schemas.openxmlformats.org/officeDocument/2006/relationships/notesSlide" Target="/ppt/notesSlides/notesSlide3.xml" Id="Rf5e97f5dfc2c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aa5007ec314fbf" /><Relationship Type="http://schemas.openxmlformats.org/officeDocument/2006/relationships/image" Target="/ppt/media/image3.png" Id="R813ea46e4afd4ac9" /><Relationship Type="http://schemas.openxmlformats.org/officeDocument/2006/relationships/notesSlide" Target="/ppt/notesSlides/notesSlide4.xml" Id="R6f16f99c66be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d75dfdbc19488f" /><Relationship Type="http://schemas.openxmlformats.org/officeDocument/2006/relationships/image" Target="/ppt/media/image4.png" Id="Red99a117853e4fdf" /><Relationship Type="http://schemas.openxmlformats.org/officeDocument/2006/relationships/notesSlide" Target="/ppt/notesSlides/notesSlide5.xml" Id="R9672482fd26c47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22f877129f4150" /><Relationship Type="http://schemas.openxmlformats.org/officeDocument/2006/relationships/notesSlide" Target="/ppt/notesSlides/notesSlide6.xml" Id="Rfbbc206235ea49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83eece85314aa2" /><Relationship Type="http://schemas.openxmlformats.org/officeDocument/2006/relationships/notesSlide" Target="/ppt/notesSlides/notesSlide7.xml" Id="R7b402ee0978147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eff7d1a4e04951" /><Relationship Type="http://schemas.openxmlformats.org/officeDocument/2006/relationships/image" Target="/ppt/media/image5.png" Id="R87adefe2bb084621" /><Relationship Type="http://schemas.openxmlformats.org/officeDocument/2006/relationships/image" Target="/ppt/media/image6.png" Id="R45ffbc1a5c054f9f" /><Relationship Type="http://schemas.openxmlformats.org/officeDocument/2006/relationships/notesSlide" Target="/ppt/notesSlides/notesSlide8.xml" Id="R4ec19be94c1d4a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6f565d3bb24337" /><Relationship Type="http://schemas.openxmlformats.org/officeDocument/2006/relationships/image" Target="/ppt/media/image7.png" Id="R9221e7ce5afb448e" /><Relationship Type="http://schemas.openxmlformats.org/officeDocument/2006/relationships/notesSlide" Target="/ppt/notesSlides/notesSlide9.xml" Id="R8a2e731b8e2249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B7D54CD-84E0-4ED8-9444-29F5C0AC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620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HISTOSEG 3D HARVEST MEMO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8D8A7-8EB8-45FB-8FF7-B05B0F82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7620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72033"/>
                </a:solidFill>
              </a:defRPr>
            </a:pPr>
            <a:r>
              <a:rPr sz="5850" b="1">
                <a:solidFill>
                  <a:srgbClr val="172033"/>
                </a:solidFill>
              </a:rPr>
              <a:t>Polyp 24-gene harvest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30B77-4885-4EBB-8DE9-450B961A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661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455064"/>
                </a:solidFill>
              </a:defRPr>
            </a:pPr>
            <a:r>
              <a:rPr sz="2100">
                <a:solidFill>
                  <a:srgbClr val="455064"/>
                </a:solidFill>
              </a:rPr>
              <a:t>First biological readout from a 32-slice spatial reconstruction.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13B0A-7595-40AC-8E5E-98D87D15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E962C-F5B3-4F66-93AE-0ACFDF37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2266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2.785M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4C429-7472-495F-9025-1FB3DD45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81750"/>
            <a:ext cx="2266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aligned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DC4FC-6DB0-4345-907E-86EDA940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29300"/>
            <a:ext cx="2266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16207"/>
                </a:solidFill>
              </a:defRPr>
            </a:pPr>
            <a:r>
              <a:rPr sz="3300" b="1">
                <a:solidFill>
                  <a:srgbClr val="A16207"/>
                </a:solidFill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39A71-737A-4D41-92E9-578E9CE9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381750"/>
            <a:ext cx="2266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slices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B0904-6A38-4D47-9C39-2B580793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29300"/>
            <a:ext cx="2266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D3A7C"/>
                </a:solidFill>
              </a:defRPr>
            </a:pPr>
            <a:r>
              <a:rPr sz="3300" b="1">
                <a:solidFill>
                  <a:srgbClr val="6D3A7C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D77F0-4A95-4A11-9C0A-E70C67A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381750"/>
            <a:ext cx="2266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structures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76D03DF0-04F2-49AC-AF90-56A7FE92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19900"/>
            <a:ext cx="7620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Draft research artifact for manuscript shaping; external evidence supports marker context, not causality.</a:t>
            </a:r>
          </a:p>
        </p:txBody>
      </p:sp>
      <p:pic>
        <p:nvPicPr>
          <p:cNvPr id="12" name="cover-stru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e5100dde144bf"/>
          <a:stretch xmlns:a="http://schemas.openxmlformats.org/drawingml/2006/main"/>
        </p:blipFill>
        <p:spPr>
          <a:xfrm xmlns:a="http://schemas.openxmlformats.org/drawingml/2006/main">
            <a:off x="8999696" y="2077662"/>
            <a:ext cx="8431054" cy="6131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371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CA9FBC2-8EC6-4109-B860-07B08173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FIGURE 1 SETUP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C1AB21-DFCD-463D-AFA0-9810BB3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A full-stack 3D object, not a single-slice vignette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F57E347-6A1C-43ED-943C-A4D94162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247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The post-merge validation converted the 32-slice polyp stack into a sampled, browser-shareable 3D cell cloud while preserving contour structure context.</a:t>
            </a:r>
          </a:p>
        </p:txBody>
      </p:sp>
      <p:pic>
        <p:nvPicPr>
          <p:cNvPr id="4" name="stack-previe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4b22b0e784092"/>
          <a:stretch xmlns:a="http://schemas.openxmlformats.org/drawingml/2006/main"/>
        </p:blipFill>
        <p:spPr>
          <a:xfrm xmlns:a="http://schemas.openxmlformats.org/drawingml/2006/main">
            <a:off x="742950" y="2421805"/>
            <a:ext cx="9409271" cy="723790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AC1DB-A03C-4239-9D5B-54A542D7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381500"/>
            <a:ext cx="695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B5C9C"/>
                </a:solidFill>
              </a:defRPr>
            </a:pPr>
            <a:r>
              <a:rPr sz="3300" b="1">
                <a:solidFill>
                  <a:srgbClr val="2B5C9C"/>
                </a:solidFill>
              </a:rPr>
              <a:t>2,785,128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25CDC-5BC6-4782-B3E1-76C06F89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953000"/>
            <a:ext cx="695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valid aligned cells in source Parquet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77611-13C2-4082-A9B4-F2E011A8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448300"/>
            <a:ext cx="695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300,000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403B9-8AA0-4252-B1E9-6A549E2D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000750"/>
            <a:ext cx="695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sampled WebGL points for validation 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2EE43-F0D7-4741-B9F5-AAB1C45E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96050"/>
            <a:ext cx="6953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16207"/>
                </a:solidFill>
              </a:defRPr>
            </a:pPr>
            <a:r>
              <a:rPr sz="3300" b="1">
                <a:solidFill>
                  <a:srgbClr val="A16207"/>
                </a:solidFill>
              </a:rPr>
              <a:t>500k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19FDD-9EEA-4C5A-9A84-984CEE8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067550"/>
            <a:ext cx="695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warning threshold fired as intended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BF5095EA-8DA7-49DA-8350-CFAF51D9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562850"/>
            <a:ext cx="695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Inputs: aligned_leiden_3d_cells.parquet and post_merge_validation_20260503/leiden_3d_cells_300k_main.html.</a:t>
            </a:r>
          </a:p>
        </p:txBody>
      </p:sp>
    </p:spTree>
    <p:extLst>
      <p:ext uri="{BB962C8B-B14F-4D97-AF65-F5344CB8AC3E}">
        <p14:creationId xmlns:p14="http://schemas.microsoft.com/office/powerpoint/2010/main" val="8203557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2CEDEE5D-E16A-4693-B703-8377C8C6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3A7C"/>
                </a:solidFill>
              </a:defRPr>
            </a:pPr>
            <a:r>
              <a:rPr sz="1125" b="1">
                <a:solidFill>
                  <a:srgbClr val="6D3A7C"/>
                </a:solidFill>
              </a:rPr>
              <a:t>WORKING BIOLOGICAL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AF3625-C02E-44EF-8F17-80874CA9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The 24-gene panel resolves four interpretable compartments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99CE3C8-A8E0-4960-B929-36E4E7E6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96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Structure labels remain numeric, but the marker geometry now supports a concrete, testable interpretation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2FA93-4FC5-4891-8DAF-F31F1892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6960"/>
            <a:ext cx="8201025" cy="3368040"/>
          </a:xfrm>
          <a:prstGeom xmlns:a="http://schemas.openxmlformats.org/drawingml/2006/main" prst="roundRect">
            <a:avLst>
              <a:gd name="adj" fmla="val 2828"/>
            </a:avLst>
          </a:prstGeom>
          <a:solidFill xmlns:a="http://schemas.openxmlformats.org/drawingml/2006/main">
            <a:srgbClr val="F7FAF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F0EFA-00B7-46F6-9F39-399C84D9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D3A7C"/>
                </a:solidFill>
              </a:defRPr>
            </a:pPr>
            <a:r>
              <a:rPr sz="2550" b="1">
                <a:solidFill>
                  <a:srgbClr val="6D3A7C"/>
                </a:solidFill>
              </a:rPr>
              <a:t>Structure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64C211-68EB-43AF-91EA-AC6287CD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Stromal-immune niche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667E3-E213-4A36-9C2B-E4C1C07C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3"/>
                </a:solidFill>
              </a:defRPr>
            </a:pPr>
            <a:r>
              <a:rPr sz="1350">
                <a:solidFill>
                  <a:srgbClr val="5B6473"/>
                </a:solidFill>
              </a:rPr>
              <a:t>GREM1/FAP/ACTA2/COL1A1 with PTPRC/CD3D/CD3E/MS4A1/CD79A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94F7B-414A-4C1E-914E-2F8ED1AD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346960"/>
            <a:ext cx="8201025" cy="3368040"/>
          </a:xfrm>
          <a:prstGeom xmlns:a="http://schemas.openxmlformats.org/drawingml/2006/main" prst="roundRect">
            <a:avLst>
              <a:gd name="adj" fmla="val 2828"/>
            </a:avLst>
          </a:prstGeom>
          <a:solidFill xmlns:a="http://schemas.openxmlformats.org/drawingml/2006/main">
            <a:srgbClr val="FBF9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6515B-AF28-4B48-9345-E4D7D3B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16207"/>
                </a:solidFill>
              </a:defRPr>
            </a:pPr>
            <a:r>
              <a:rPr sz="2550" b="1">
                <a:solidFill>
                  <a:srgbClr val="A16207"/>
                </a:solidFill>
              </a:rPr>
              <a:t>Structure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913A4-FB1E-47CA-BE01-076C27DF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8610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Epithelial differentiation/proliferation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48B29-D324-4D42-9912-DC2791BE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480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3"/>
                </a:solidFill>
              </a:defRPr>
            </a:pPr>
            <a:r>
              <a:rPr sz="1350">
                <a:solidFill>
                  <a:srgbClr val="5B6473"/>
                </a:solidFill>
              </a:rPr>
              <a:t>MUC2/OLFM4/MKI67; OLFM4 behaves as a boundary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4F166-CE91-4C9E-8012-201B43B3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8201025" cy="3368040"/>
          </a:xfrm>
          <a:prstGeom xmlns:a="http://schemas.openxmlformats.org/drawingml/2006/main" prst="roundRect">
            <a:avLst>
              <a:gd name="adj" fmla="val 2828"/>
            </a:avLst>
          </a:prstGeom>
          <a:solidFill xmlns:a="http://schemas.openxmlformats.org/drawingml/2006/main">
            <a:srgbClr val="F3F8F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50BA9-085C-4FDC-B070-FCC6ABF0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Structure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4BD1B-A4EB-45BD-82C0-9FEE7846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865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Epithelial/stem-like compartment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61940-30E8-4867-A8A8-67674DE3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675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3"/>
                </a:solidFill>
              </a:defRPr>
            </a:pPr>
            <a:r>
              <a:rPr sz="1350">
                <a:solidFill>
                  <a:srgbClr val="5B6473"/>
                </a:solidFill>
              </a:rPr>
              <a:t>LGR5 and EPCAM peak here by top05 fraction-inside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ABB0E-1F37-43C1-9ED3-1D41A97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5962650"/>
            <a:ext cx="8201025" cy="3368040"/>
          </a:xfrm>
          <a:prstGeom xmlns:a="http://schemas.openxmlformats.org/drawingml/2006/main" prst="roundRect">
            <a:avLst>
              <a:gd name="adj" fmla="val 2828"/>
            </a:avLst>
          </a:prstGeom>
          <a:solidFill xmlns:a="http://schemas.openxmlformats.org/drawingml/2006/main">
            <a:srgbClr val="F6F7F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B302CC-F6AF-406A-B563-0701EACB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1912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5C9C"/>
                </a:solidFill>
              </a:defRPr>
            </a:pPr>
            <a:r>
              <a:rPr sz="2550" b="1">
                <a:solidFill>
                  <a:srgbClr val="2B5C9C"/>
                </a:solidFill>
              </a:rPr>
              <a:t>Structure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625EFB-93A1-4E15-823C-821BFD46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686550"/>
            <a:ext cx="7639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Macrophage/perivascular-associated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B679BF-3BD2-49F3-A21E-A5B4878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067550"/>
            <a:ext cx="7639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3"/>
                </a:solidFill>
              </a:defRPr>
            </a:pPr>
            <a:r>
              <a:rPr sz="1350">
                <a:solidFill>
                  <a:srgbClr val="5B6473"/>
                </a:solidFill>
              </a:rPr>
              <a:t>C1QA, PDGFRA, and CD68 strongest; LYZ supportive but distributed</a:t>
            </a:r>
          </a:p>
        </p:txBody>
      </p:sp>
      <p:sp>
        <p:nvSpPr>
          <p:cNvPr id="20" name="source">
            <a:extLst xmlns:a="http://schemas.openxmlformats.org/drawingml/2006/main">
              <a:ext uri="{FF2B5EF4-FFF2-40B4-BE49-F238E27FC236}">
                <a16:creationId xmlns:a16="http://schemas.microsoft.com/office/drawing/2014/main" id="{8FDB56C0-EF89-4A3A-84E6-1F2BCC7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Derived from top05 fraction-inside and signed-distance matrices in the starter-panel batch.</a:t>
            </a:r>
          </a:p>
        </p:txBody>
      </p:sp>
    </p:spTree>
    <p:extLst>
      <p:ext uri="{BB962C8B-B14F-4D97-AF65-F5344CB8AC3E}">
        <p14:creationId xmlns:p14="http://schemas.microsoft.com/office/powerpoint/2010/main" val="872664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8957971-83BB-42F6-9D60-F948D5D7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3A7C"/>
                </a:solidFill>
              </a:defRPr>
            </a:pPr>
            <a:r>
              <a:rPr sz="1125" b="1">
                <a:solidFill>
                  <a:srgbClr val="6D3A7C"/>
                </a:solidFill>
              </a:rPr>
              <a:t>CORE CLAIM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93764E-23C6-498B-B09C-066636BA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Structure 5 is stromal-immune, not purely stromal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A2553B-C096-4D69-BB58-B238BABC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8705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The same 3D contour embeds activated fibroblast, ECM, contractile, T-cell, and B-cell markers.</a:t>
            </a:r>
          </a:p>
        </p:txBody>
      </p:sp>
      <p:pic>
        <p:nvPicPr>
          <p:cNvPr id="4" name="grem1-nest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ea46e4afd4ac9"/>
          <a:stretch xmlns:a="http://schemas.openxmlformats.org/drawingml/2006/main"/>
        </p:blipFill>
        <p:spPr>
          <a:xfrm xmlns:a="http://schemas.openxmlformats.org/drawingml/2006/main">
            <a:off x="742950" y="2940523"/>
            <a:ext cx="8447056" cy="61433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78CDC-E154-48DA-9C88-9D4DF844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719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Gene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0DC74-F80E-49F1-B290-152680D6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1719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Fraction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B57A0-8A1D-49FD-B480-CAE06064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17195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SDF (um)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7E960-ECD7-4E97-8274-4446C51D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171950"/>
            <a:ext cx="36385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13504-DA5E-4103-B2CA-4E0E2979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1960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97BB6-0EC2-4294-A63A-DDD4ECB3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339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D3B3B"/>
                </a:solidFill>
              </a:defRPr>
            </a:pPr>
            <a:r>
              <a:rPr sz="1575" b="1">
                <a:solidFill>
                  <a:srgbClr val="9D3B3B"/>
                </a:solidFill>
              </a:rPr>
              <a:t>CD3E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4DA3E-22A1-4CFF-9D50-5127CBC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5339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0.876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5C047-A989-4C19-805E-638A16CB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53390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-35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879F7-1D65-4EE6-A245-8D72C37D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5339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T-cell receptor complex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4ECB6-7825-402B-A13F-B712B4A1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5775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DBA4C-6350-445F-BA0C-496EE384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9720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D3B3B"/>
                </a:solidFill>
              </a:defRPr>
            </a:pPr>
            <a:r>
              <a:rPr sz="1575" b="1">
                <a:solidFill>
                  <a:srgbClr val="9D3B3B"/>
                </a:solidFill>
              </a:rPr>
              <a:t>CD3D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367AD-8805-4069-9478-976B3E1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9720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0.873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FB7D8C-958C-4F76-A901-97177DC0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49720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C747C-4BB1-4DAA-A175-6459C042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97205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T-cell receptor complex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3DDAF-9B91-4B1F-8540-C1793E91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29590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1F2D0-9991-4FBC-8EB0-EE0C9D9F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4102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D3B3B"/>
                </a:solidFill>
              </a:defRPr>
            </a:pPr>
            <a:r>
              <a:rPr sz="1575" b="1">
                <a:solidFill>
                  <a:srgbClr val="9D3B3B"/>
                </a:solidFill>
              </a:rPr>
              <a:t>PTPRC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3F41F-82F3-478C-9E82-C62E31B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4102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0.872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4A1E9-A979-4F4F-987A-F7DCB4C8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41020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10E61-389A-4F06-B80C-599E06AF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4102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pan-leukocyte signal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37EA1F-860D-4DC0-B0DC-171B5ADB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73405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2ED18F-47C1-4A36-87A6-6C31C92F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8483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3A7C"/>
                </a:solidFill>
              </a:defRPr>
            </a:pPr>
            <a:r>
              <a:rPr sz="1575" b="1">
                <a:solidFill>
                  <a:srgbClr val="6D3A7C"/>
                </a:solidFill>
              </a:rPr>
              <a:t>GREM1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FDC4F-B019-4D22-A5E7-073CFE25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8483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0.862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A96D7-F4DE-44EE-B586-FFE0BC00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8483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AFB14-35D0-446E-891D-AAB6C237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584835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BMP antagonist stromal niche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04C76-1F93-44D9-9C53-3F0527A9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19125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3C09B-48D9-439C-A622-446CD5E9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2865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D3B3B"/>
                </a:solidFill>
              </a:defRPr>
            </a:pPr>
            <a:r>
              <a:rPr sz="1575" b="1">
                <a:solidFill>
                  <a:srgbClr val="9D3B3B"/>
                </a:solidFill>
              </a:rPr>
              <a:t>MS4A1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AA33D5-F2E2-46E1-B1E9-F88C92DD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2865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0.805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51D413-14CB-496F-A9BC-7F11D468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28650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-25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42D57-6DD3-4A9F-B969-A72244C4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2865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B-cell marker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A443CA-7DEC-4BC2-A507-A871E25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62940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1C5823-3247-4D6F-B947-CBAD6A37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7246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3A7C"/>
                </a:solidFill>
              </a:defRPr>
            </a:pPr>
            <a:r>
              <a:rPr sz="1575" b="1">
                <a:solidFill>
                  <a:srgbClr val="6D3A7C"/>
                </a:solidFill>
              </a:rPr>
              <a:t>FAP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78A3D7-E074-4730-B914-0268F74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7246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0.793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52B42C-8A2D-4514-B38D-8C1A79B4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7246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68F5B0-0E0A-465B-86E3-52B0AB0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72465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activated fibroblast protease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307B73-8639-4237-9A03-E63522CA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06755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F2B81D-19CB-42B8-A6B4-7ED6DADE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1628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D3A7C"/>
                </a:solidFill>
              </a:defRPr>
            </a:pPr>
            <a:r>
              <a:rPr sz="1575" b="1">
                <a:solidFill>
                  <a:srgbClr val="6D3A7C"/>
                </a:solidFill>
              </a:rPr>
              <a:t>COL1A1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EC825C-AE1B-41F6-8880-FDC305BC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1628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0.767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C90260-8B1E-4F4E-99DF-DCC940F9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716280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488ED4-3479-494A-947A-889A1E97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162800"/>
            <a:ext cx="3638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ECM collagen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4F20C6-D5CE-4DF3-8CE4-C535B63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505700"/>
            <a:ext cx="796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45" name="source">
            <a:extLst xmlns:a="http://schemas.openxmlformats.org/drawingml/2006/main">
              <a:ext uri="{FF2B5EF4-FFF2-40B4-BE49-F238E27FC236}">
                <a16:creationId xmlns:a16="http://schemas.microsoft.com/office/drawing/2014/main" id="{CBF7DCD6-628B-4FE9-B718-0F5C1F7D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715250"/>
            <a:ext cx="796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Numbers: top05 fraction-inside and signed distance for Structure 5.</a:t>
            </a:r>
          </a:p>
        </p:txBody>
      </p:sp>
    </p:spTree>
    <p:extLst>
      <p:ext uri="{BB962C8B-B14F-4D97-AF65-F5344CB8AC3E}">
        <p14:creationId xmlns:p14="http://schemas.microsoft.com/office/powerpoint/2010/main" val="18405349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40467BD-A407-4BE5-8CB4-438E4317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A16207"/>
                </a:solidFill>
              </a:defRPr>
            </a:pPr>
            <a:r>
              <a:rPr sz="1125" b="1">
                <a:solidFill>
                  <a:srgbClr val="A16207"/>
                </a:solidFill>
              </a:rPr>
              <a:t>CORE CLAIM 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F11C72-1831-48FB-B91D-3BE81660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Structure 3 carries epithelial differentiation and proliferation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30ABC9-9BA3-4552-8867-2422D3BB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MUC2 anchors secretory epithelium; MKI67 adds proliferation; OLFM4 is real but sits at a Structure 3/5 interface.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C128A-2E99-4FE9-B972-A7D468B7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Gene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903CD-F3ED-44C5-81DE-86C17E6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4820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Fraction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CCAF2-898F-48E7-9E01-30F32536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482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SDF (um)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0EA6F-1987-495F-94AB-FE002B70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3829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87D04-4B19-4761-9DBC-6C7FA1D2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2AB937-9873-4A3D-B662-BA231A29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16207"/>
                </a:solidFill>
              </a:defRPr>
            </a:pPr>
            <a:r>
              <a:rPr sz="1575" b="1">
                <a:solidFill>
                  <a:srgbClr val="A16207"/>
                </a:solidFill>
              </a:rPr>
              <a:t>MUC2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EA206-C668-4344-911D-9002CD26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101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0.603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FDDBD-2CEE-460D-83B0-1B45AE35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101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37084-67FB-4A21-B0BA-266D66BE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10150"/>
            <a:ext cx="382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secretory/goblet epithelial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BD5B7-ECF9-44A6-9E3F-FE4825B2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C82E0-44CF-4192-A39C-E2D43CFA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16207"/>
                </a:solidFill>
              </a:defRPr>
            </a:pPr>
            <a:r>
              <a:rPr sz="1575" b="1">
                <a:solidFill>
                  <a:srgbClr val="A16207"/>
                </a:solidFill>
              </a:rPr>
              <a:t>OLFM4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ED4181-4C7A-44D5-A0A9-C8D27F6E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483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0.550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DECA5-6B8D-4BD6-8BA9-88819734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4830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-5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A6AB5-54F7-4641-89D7-59279416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48300"/>
            <a:ext cx="382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differentiation/interface marker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CF042-A93A-4341-99DA-FFBC342F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914E0-9CD8-41C8-828B-397199A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A16207"/>
                </a:solidFill>
              </a:defRPr>
            </a:pPr>
            <a:r>
              <a:rPr sz="1575" b="1">
                <a:solidFill>
                  <a:srgbClr val="A16207"/>
                </a:solidFill>
              </a:rPr>
              <a:t>MKI67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681D5-195F-42C6-BC06-FA6059E4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864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0.331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00F7F-259C-489C-A08A-2E0E4641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8864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50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9084B6-DEAB-4E02-8667-75601C57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886450"/>
            <a:ext cx="3829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proliferative fraction near Structure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D3577-8719-4A22-9001-FBE07D5D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5B5DF-B4B5-4822-B874-3ACBC2B8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96050"/>
            <a:ext cx="815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The strongest Structure 3 read is epithelial state, not immune or stromal enrichment.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0F40DD11-4AA7-43D7-B267-D0D0DFD5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8153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Caveat: OLFM4 is slightly Structure 5-dominant by fraction and should be called boundary-distributed.</a:t>
            </a:r>
          </a:p>
        </p:txBody>
      </p:sp>
      <p:pic>
        <p:nvPicPr>
          <p:cNvPr id="26" name="structure-overview-s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9a117853e4fdf"/>
          <a:stretch xmlns:a="http://schemas.openxmlformats.org/drawingml/2006/main"/>
        </p:blipFill>
        <p:spPr>
          <a:xfrm xmlns:a="http://schemas.openxmlformats.org/drawingml/2006/main">
            <a:off x="9401175" y="2942186"/>
            <a:ext cx="8143875" cy="59228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62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4BC177C-9CB2-49E4-A612-41C3317B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CORE CLAIM 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9C4F2E-8678-4AB3-95C4-98B26ADF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Structure 4 is the epithelial/stem-like pole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6BD0FCB-D321-4490-B74E-B63545AF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82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LGR5 and EPCAM peak together in Structure 4, separating this compartment from the MUC2-heavy Structure 3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3AAFF-8E3E-4B53-928A-4936E67C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773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0.579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717C4-470F-473D-9891-F352699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773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LGR5 top05 fraction-inside in Structure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1C0ED-F33A-43A1-AC4A-C1963F18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773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F766E"/>
                </a:solidFill>
              </a:defRPr>
            </a:pPr>
            <a:r>
              <a:rPr sz="3300" b="1">
                <a:solidFill>
                  <a:srgbClr val="0F766E"/>
                </a:solidFill>
              </a:rPr>
              <a:t>-5 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DBDB3-79D5-40CB-B53D-2340B053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773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LGR5 signed distance: embedded/near-boundary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BC7F7-4435-4646-B1FF-F772DD46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773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B5C9C"/>
                </a:solidFill>
              </a:defRPr>
            </a:pPr>
            <a:r>
              <a:rPr sz="3300" b="1">
                <a:solidFill>
                  <a:srgbClr val="2B5C9C"/>
                </a:solidFill>
              </a:rPr>
              <a:t>0.415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09748-1015-4D6A-B729-79FBFB2D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34150"/>
            <a:ext cx="7734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EPCAM top05 fraction-inside in Structure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E6850-0F4A-41F6-8C0C-7A173244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773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Interpretation: epithelial/stem-like compartment; pair with Structure 3 in manuscript panels.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4E9E5-0F62-4AD9-AB75-A71AE78E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983" y="2110740"/>
            <a:ext cx="8541068" cy="7181850"/>
          </a:xfrm>
          <a:prstGeom xmlns:a="http://schemas.openxmlformats.org/drawingml/2006/main" prst="roundRect">
            <a:avLst>
              <a:gd name="adj" fmla="val 1326"/>
            </a:avLst>
          </a:prstGeom>
          <a:solidFill xmlns:a="http://schemas.openxmlformats.org/drawingml/2006/main">
            <a:srgbClr val="F3F8F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E6692-8AC7-4F67-B2F4-49667B93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7886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Marker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77915-8E74-424B-92DF-1F31EB0D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718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LGR5: R-spondin/Wnt receptor; intestinal epithelial stem-cell marker in UniProt annotation.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B58BAA-626A-413B-B082-7D9FA8DE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29000"/>
            <a:ext cx="788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EPCAM: epithelial adhesion and mucosal barrier context.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915F4-5929-4083-A0AC-A3A122D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67150"/>
            <a:ext cx="788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4DE"/>
          </a:solidFill>
          <a:ln xmlns:a="http://schemas.openxmlformats.org/drawingml/2006/main" w="0">
            <a:solidFill>
              <a:srgbClr val="CF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4C9BB-1CCD-4374-98D4-17C4CDCC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76700"/>
            <a:ext cx="7886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The spatial claim comes from HistoSeg; marker identity comes from curated external resources.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16CCB686-A9F1-43BE-B6C1-4B512AA9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External marker context: UniProt reviewed entries and Human Protein Atlas gene pages.</a:t>
            </a:r>
          </a:p>
        </p:txBody>
      </p:sp>
    </p:spTree>
    <p:extLst>
      <p:ext uri="{BB962C8B-B14F-4D97-AF65-F5344CB8AC3E}">
        <p14:creationId xmlns:p14="http://schemas.microsoft.com/office/powerpoint/2010/main" val="19987502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05D4795A-559A-4F8E-9B59-6D7294E5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B5C9C"/>
                </a:solidFill>
              </a:defRPr>
            </a:pPr>
            <a:r>
              <a:rPr sz="1125" b="1">
                <a:solidFill>
                  <a:srgbClr val="2B5C9C"/>
                </a:solidFill>
              </a:rPr>
              <a:t>CORE CLAIM 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8D0C79-2426-4F98-9D80-268C2E53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Structure 2 is macrophage/perivascular-associated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AC7E7E-AC56-470F-AA55-C0F3FD99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8972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C1QA, PDGFRA, and CD68 peak here; LYZ supports the myeloid direction but remains distributed.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A12AD-FA54-488E-B5CF-8B0BE3FD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5060"/>
            <a:ext cx="8143875" cy="7311390"/>
          </a:xfrm>
          <a:prstGeom xmlns:a="http://schemas.openxmlformats.org/drawingml/2006/main" prst="roundRect">
            <a:avLst>
              <a:gd name="adj" fmla="val 1303"/>
            </a:avLst>
          </a:prstGeom>
          <a:solidFill xmlns:a="http://schemas.openxmlformats.org/drawingml/2006/main">
            <a:srgbClr val="F6F7FB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BDA81-2930-4B08-9A88-7119D191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Gene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8266B-8109-4F88-ABBD-E1E0C662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Fraction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833A0-597A-47C0-8E4C-79662900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4795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SDF (um)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2CC7D-9DB3-45D4-A4B0-93D3BE98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47950"/>
            <a:ext cx="3181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B6473"/>
                </a:solidFill>
              </a:defRPr>
            </a:pPr>
            <a:r>
              <a:rPr sz="1050" b="1">
                <a:solidFill>
                  <a:srgbClr val="5B6473"/>
                </a:solidFill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2EE66-9238-4DD6-BB1D-C6CC04E1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solidFill>
              <a:srgbClr val="D9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E6B73-41C1-46F8-B150-567E5D83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23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C9C"/>
                </a:solidFill>
              </a:defRPr>
            </a:pPr>
            <a:r>
              <a:rPr sz="1575" b="1">
                <a:solidFill>
                  <a:srgbClr val="2B5C9C"/>
                </a:solidFill>
              </a:rPr>
              <a:t>C1QA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23270-538F-499B-9BCA-BFA510FA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123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0.270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8C556-769D-4D4B-AD1F-5E3F3BA3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09900"/>
            <a:ext cx="1333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43F1C-FCE7-478B-B35A-8FE36D30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3181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classical complement / macrophage-lineage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1F251-0631-45CD-9AFE-9A8863C4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00347-078F-4B98-BB33-83CB36D2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C9C"/>
                </a:solidFill>
              </a:defRPr>
            </a:pPr>
            <a:r>
              <a:rPr sz="1575" b="1">
                <a:solidFill>
                  <a:srgbClr val="2B5C9C"/>
                </a:solidFill>
              </a:rPr>
              <a:t>PDGFRA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362B9A-C90D-4090-AF8C-FF3BD191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766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0.224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9133B-A20A-44FD-A9D9-EDB8541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766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CACFE-AB16-4DAE-B61E-EA39A44F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76650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mesenchymal-perivascular receptor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79FDC-2D30-4981-A971-5B4B6830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0C11A-4BA3-445C-9B45-B2C53D68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C9C"/>
                </a:solidFill>
              </a:defRPr>
            </a:pPr>
            <a:r>
              <a:rPr sz="1575" b="1">
                <a:solidFill>
                  <a:srgbClr val="2B5C9C"/>
                </a:solidFill>
              </a:rPr>
              <a:t>CD68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F0B25-227D-4A33-A72D-E085BD6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1480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0.157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A62F2-609B-4113-8D54-93343EAC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1480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80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369CD2-DEA3-43C4-A7E4-43A54B23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macrophage / phagolysosomal marker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DBEF7-2754-418C-ADFB-7DA69D21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8FA7C-D280-4A23-90DE-3D14C40A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B5C9C"/>
                </a:solidFill>
              </a:defRPr>
            </a:pPr>
            <a:r>
              <a:rPr sz="1575" b="1">
                <a:solidFill>
                  <a:srgbClr val="2B5C9C"/>
                </a:solidFill>
              </a:rPr>
              <a:t>LYZ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A7A226-D8D6-4306-B579-60DA74AE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123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0.148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7F6378-26FD-45FD-AC38-EDCDADE9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52950"/>
            <a:ext cx="133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033"/>
                </a:solidFill>
              </a:defRPr>
            </a:pPr>
            <a:r>
              <a:rPr sz="1575">
                <a:solidFill>
                  <a:srgbClr val="172033"/>
                </a:solidFill>
              </a:rPr>
              <a:t>80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122CE-62BD-4E76-90D3-2728268F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52950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55064"/>
                </a:solidFill>
              </a:defRPr>
            </a:pPr>
            <a:r>
              <a:rPr sz="1500">
                <a:solidFill>
                  <a:srgbClr val="455064"/>
                </a:solidFill>
              </a:rPr>
              <a:t>supportive myeloid signal; not dominant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FF5EA5-BBE8-4144-9BC1-5A3D50ED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76800"/>
            <a:ext cx="7505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0">
            <a:solidFill>
              <a:srgbClr val="EEF1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382C23-F5BA-4CF6-ABC9-CEB131EF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05350"/>
            <a:ext cx="815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033"/>
                </a:solidFill>
              </a:defRPr>
            </a:pPr>
            <a:r>
              <a:rPr sz="3150" b="1">
                <a:solidFill>
                  <a:srgbClr val="172033"/>
                </a:solidFill>
              </a:rPr>
              <a:t>Why not call it purely macrophage?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7E019-8F5E-4B19-8699-0D13B07F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48300"/>
            <a:ext cx="815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The PDGFRA component gives the structure a stromal/perivascular axis.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A5E16-1C02-48E0-8D78-2A6DE74A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962650"/>
            <a:ext cx="815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Signed distances are positive for the top05 hotspot, so this is association/adjacency more than deep embedding.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219371-B27B-4504-A6ED-C9A5191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724650"/>
            <a:ext cx="8153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Good manuscript language: macrophage/perivascular-associated compartment.</a:t>
            </a:r>
          </a:p>
        </p:txBody>
      </p:sp>
      <p:sp>
        <p:nvSpPr>
          <p:cNvPr id="34" name="source">
            <a:extLst xmlns:a="http://schemas.openxmlformats.org/drawingml/2006/main">
              <a:ext uri="{FF2B5EF4-FFF2-40B4-BE49-F238E27FC236}">
                <a16:creationId xmlns:a16="http://schemas.microsoft.com/office/drawing/2014/main" id="{1497F7E1-FD52-4087-A2DE-1060B7F6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239000"/>
            <a:ext cx="8153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This wording preserves the biology without overstating direct contact or lineage identity.</a:t>
            </a:r>
          </a:p>
        </p:txBody>
      </p:sp>
    </p:spTree>
    <p:extLst>
      <p:ext uri="{BB962C8B-B14F-4D97-AF65-F5344CB8AC3E}">
        <p14:creationId xmlns:p14="http://schemas.microsoft.com/office/powerpoint/2010/main" val="13305680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BCAD6A9D-AFFB-4057-B1CB-A0B9D879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F7D20"/>
                </a:solidFill>
              </a:defRPr>
            </a:pPr>
            <a:r>
              <a:rPr sz="1125" b="1">
                <a:solidFill>
                  <a:srgbClr val="3F7D20"/>
                </a:solidFill>
              </a:rPr>
              <a:t>FIGURE 2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BC6EF9-91F1-47C8-B972-E05D45B8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The matrix view makes the compartment calls auditable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4877C26-4E4C-4641-9076-D148C06A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1010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Fraction-inside and signed-distance clustermaps should sit side-by-side: occupancy and embedding are related, but not interchangeable.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5D89A-2B8F-4A1E-B052-EAF279F0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824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20"/>
                </a:solidFill>
              </a:defRPr>
            </a:pPr>
            <a:r>
              <a:rPr sz="1050" b="1">
                <a:solidFill>
                  <a:srgbClr val="3F7D20"/>
                </a:solidFill>
              </a:rPr>
              <a:t>Fraction inside, top05</a:t>
            </a:r>
          </a:p>
        </p:txBody>
      </p:sp>
      <p:pic>
        <p:nvPicPr>
          <p:cNvPr id="5" name="fraction-cluster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defe2bb084621"/>
          <a:stretch xmlns:a="http://schemas.openxmlformats.org/drawingml/2006/main"/>
        </p:blipFill>
        <p:spPr>
          <a:xfrm xmlns:a="http://schemas.openxmlformats.org/drawingml/2006/main">
            <a:off x="1974736" y="2564130"/>
            <a:ext cx="5775553" cy="68046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44A11-7E5D-42BB-981A-89CB86CE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05050"/>
            <a:ext cx="8248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F7D20"/>
                </a:solidFill>
              </a:defRPr>
            </a:pPr>
            <a:r>
              <a:rPr sz="1050" b="1">
                <a:solidFill>
                  <a:srgbClr val="3F7D20"/>
                </a:solidFill>
              </a:rPr>
              <a:t>Signed distance, top05</a:t>
            </a:r>
          </a:p>
        </p:txBody>
      </p:sp>
      <p:pic>
        <p:nvPicPr>
          <p:cNvPr id="7" name="signed-distance-cluster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fbc1a5c054f9f"/>
          <a:stretch xmlns:a="http://schemas.openxmlformats.org/drawingml/2006/main"/>
        </p:blipFill>
        <p:spPr>
          <a:xfrm xmlns:a="http://schemas.openxmlformats.org/drawingml/2006/main">
            <a:off x="10537711" y="2564130"/>
            <a:ext cx="5775553" cy="6804660"/>
          </a:xfrm>
          <a:prstGeom xmlns:a="http://schemas.openxmlformats.org/drawingml/2006/main" prst="rect">
            <a:avLst/>
          </a:prstGeom>
        </p:spPr>
      </p:pic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A7A0BAFD-FD47-4669-9B73-E1DBB773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63100"/>
            <a:ext cx="168021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A8392"/>
                </a:solidFill>
              </a:defRPr>
            </a:pPr>
            <a:r>
              <a:rPr sz="900">
                <a:solidFill>
                  <a:srgbClr val="7A8392"/>
                </a:solidFill>
              </a:rPr>
              <a:t>Post-merge validation images are embedded in the deck; raw validation HTML/Parquet remain outside the repo.</a:t>
            </a:r>
          </a:p>
        </p:txBody>
      </p:sp>
    </p:spTree>
    <p:extLst>
      <p:ext uri="{BB962C8B-B14F-4D97-AF65-F5344CB8AC3E}">
        <p14:creationId xmlns:p14="http://schemas.microsoft.com/office/powerpoint/2010/main" val="15403596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59A81AA-FDE7-4A91-BEF5-12535FB7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680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3A7C"/>
                </a:solidFill>
              </a:defRPr>
            </a:pPr>
            <a:r>
              <a:rPr sz="1125" b="1">
                <a:solidFill>
                  <a:srgbClr val="6D3A7C"/>
                </a:solidFill>
              </a:rPr>
              <a:t>FIGURE 3 LANDING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AE2492-DB18-4F5F-9597-C3231328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GREM1 is the hero topology panel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0177AD1-7F77-4BE6-AAF6-5CF0E606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036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55064"/>
                </a:solidFill>
              </a:defRPr>
            </a:pPr>
            <a:r>
              <a:rPr sz="1800">
                <a:solidFill>
                  <a:srgbClr val="455064"/>
                </a:solidFill>
              </a:rPr>
              <a:t>It links the visual nested hotspot, the Structure 5 SDF embedding, and the stromal-immune compartment claim.</a:t>
            </a:r>
          </a:p>
        </p:txBody>
      </p:sp>
      <p:pic>
        <p:nvPicPr>
          <p:cNvPr id="4" name="grem1-focu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1e7ce5afb448e"/>
          <a:stretch xmlns:a="http://schemas.openxmlformats.org/drawingml/2006/main"/>
        </p:blipFill>
        <p:spPr>
          <a:xfrm xmlns:a="http://schemas.openxmlformats.org/drawingml/2006/main">
            <a:off x="742950" y="2819989"/>
            <a:ext cx="8857107" cy="644153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E360D-6AA9-402D-BDD2-E10AAFE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10050"/>
            <a:ext cx="7543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D3A7C"/>
                </a:solidFill>
              </a:defRPr>
            </a:pPr>
            <a:r>
              <a:rPr sz="3300" b="1">
                <a:solidFill>
                  <a:srgbClr val="6D3A7C"/>
                </a:solidFill>
              </a:rPr>
              <a:t>0.862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FC785-3E12-48A2-B53E-8C9DE347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781550"/>
            <a:ext cx="7543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GREM1 top05 fraction-inside in Structure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B0B0B-AE55-4633-AA35-F3EA6F50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38750"/>
            <a:ext cx="7543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6D3A7C"/>
                </a:solidFill>
              </a:defRPr>
            </a:pPr>
            <a:r>
              <a:rPr sz="3300" b="1">
                <a:solidFill>
                  <a:srgbClr val="6D3A7C"/>
                </a:solidFill>
              </a:rPr>
              <a:t>-35 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D2E38-6A37-4579-AF52-2FC06736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791200"/>
            <a:ext cx="7543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55064"/>
                </a:solidFill>
              </a:defRPr>
            </a:pPr>
            <a:r>
              <a:rPr sz="1125">
                <a:solidFill>
                  <a:srgbClr val="455064"/>
                </a:solidFill>
              </a:rPr>
              <a:t>GREM1 signed-distance embedding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0A5BF-0863-42E1-8A3B-CBAD516A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48400"/>
            <a:ext cx="7543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Pair with FAP/ACTA2/COL1A1 and PTPRC/CD3D/CD3E/MS4A1/CD79A to make the niche argument.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CC368-6BC2-4841-BAD0-3DD43342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0294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3A7C"/>
          </a:solidFill>
          <a:ln xmlns:a="http://schemas.openxmlformats.org/drawingml/2006/main" w="0">
            <a:solidFill>
              <a:srgbClr val="6D3A7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E5240-8378-41D4-A140-DD850253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353300"/>
            <a:ext cx="7543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064"/>
                </a:solidFill>
              </a:defRPr>
            </a:pPr>
            <a:r>
              <a:rPr sz="1650">
                <a:solidFill>
                  <a:srgbClr val="455064"/>
                </a:solidFill>
              </a:rPr>
              <a:t>Next manuscript action: histology review of Structure 5 boundaries and a small table of boundary-distributed markers.</a:t>
            </a:r>
          </a:p>
        </p:txBody>
      </p:sp>
    </p:spTree>
    <p:extLst>
      <p:ext uri="{BB962C8B-B14F-4D97-AF65-F5344CB8AC3E}">
        <p14:creationId xmlns:p14="http://schemas.microsoft.com/office/powerpoint/2010/main" val="378176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2026-05-03T12:40:47.4960000Z</dcterms:created>
  <dcterms:modified xsi:type="dcterms:W3CDTF">2026-05-03T12:40:47.4960000Z</dcterms:modified>
</coreProperties>
</file>